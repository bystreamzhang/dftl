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3" r:id="rId2"/>
  </p:sldMasterIdLst>
  <p:notesMasterIdLst>
    <p:notesMasterId r:id="rId18"/>
  </p:notesMasterIdLst>
  <p:sldIdLst>
    <p:sldId id="514" r:id="rId3"/>
    <p:sldId id="529" r:id="rId4"/>
    <p:sldId id="532" r:id="rId5"/>
    <p:sldId id="533" r:id="rId6"/>
    <p:sldId id="526" r:id="rId7"/>
    <p:sldId id="521" r:id="rId8"/>
    <p:sldId id="534" r:id="rId9"/>
    <p:sldId id="528" r:id="rId10"/>
    <p:sldId id="523" r:id="rId11"/>
    <p:sldId id="519" r:id="rId12"/>
    <p:sldId id="517" r:id="rId13"/>
    <p:sldId id="258" r:id="rId14"/>
    <p:sldId id="524" r:id="rId15"/>
    <p:sldId id="518" r:id="rId16"/>
    <p:sldId id="527" r:id="rId17"/>
  </p:sldIdLst>
  <p:sldSz cx="12192000" cy="6858000"/>
  <p:notesSz cx="6858000" cy="9144000"/>
  <p:embeddedFontLst>
    <p:embeddedFont>
      <p:font typeface="Microsoft YaHei UI" panose="020B0503020204020204" pitchFamily="34" charset="-122"/>
      <p:regular r:id="rId19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微软雅黑" panose="020B0503020204020204" pitchFamily="34" charset="-122"/>
      <p:regular r:id="rId23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4E79"/>
    <a:srgbClr val="5B80CB"/>
    <a:srgbClr val="4574CA"/>
    <a:srgbClr val="FFFFFF"/>
    <a:srgbClr val="FFD966"/>
    <a:srgbClr val="0070C0"/>
    <a:srgbClr val="FFDC70"/>
    <a:srgbClr val="9DC3E6"/>
    <a:srgbClr val="C2DAF0"/>
    <a:srgbClr val="D7E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3" autoAdjust="0"/>
    <p:restoredTop sz="77881" autoAdjust="0"/>
  </p:normalViewPr>
  <p:slideViewPr>
    <p:cSldViewPr snapToGrid="0" showGuides="1">
      <p:cViewPr varScale="1">
        <p:scale>
          <a:sx n="86" d="100"/>
          <a:sy n="86" d="100"/>
        </p:scale>
        <p:origin x="1566" y="60"/>
      </p:cViewPr>
      <p:guideLst>
        <p:guide orient="horz" pos="2171"/>
        <p:guide pos="3856"/>
      </p:guideLst>
    </p:cSldViewPr>
  </p:slideViewPr>
  <p:outlineViewPr>
    <p:cViewPr>
      <p:scale>
        <a:sx n="33" d="100"/>
        <a:sy n="33" d="100"/>
      </p:scale>
      <p:origin x="0" y="-12774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114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XinxiCuncuJingSai\&#36187;&#39064;&#20108;-&#27979;&#35797;&#25490;&#21517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XinxiCuncuJingSai\&#36187;&#39064;&#20108;-&#27979;&#35797;&#25490;&#21517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XinxiCuncuJingSai\&#36187;&#39064;&#20108;-&#27979;&#35797;&#25490;&#21517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XinxiCuncuJingSai\&#36187;&#39064;&#20108;-&#27979;&#35797;&#25490;&#21517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XinxiCuncuJingSai\&#36187;&#39064;&#20108;-&#27979;&#35797;&#25490;&#21517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sz="1600" dirty="0"/>
              <a:t>单独启用不同模块对性能的影响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科学分析!$B$19</c:f>
              <c:strCache>
                <c:ptCount val="1"/>
                <c:pt idx="0">
                  <c:v>延迟 (秒)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科学分析!$A$20:$A$25</c:f>
              <c:strCache>
                <c:ptCount val="6"/>
                <c:pt idx="0">
                  <c:v>Final</c:v>
                </c:pt>
                <c:pt idx="1">
                  <c:v>No TPC </c:v>
                </c:pt>
                <c:pt idx="2">
                  <c:v>CMT (1K)</c:v>
                </c:pt>
                <c:pt idx="3">
                  <c:v>No SQ</c:v>
                </c:pt>
                <c:pt idx="4">
                  <c:v>CMT (1M)</c:v>
                </c:pt>
                <c:pt idx="5">
                  <c:v>No Bitmap</c:v>
                </c:pt>
              </c:strCache>
            </c:strRef>
          </c:cat>
          <c:val>
            <c:numRef>
              <c:f>科学分析!$B$20:$B$25</c:f>
              <c:numCache>
                <c:formatCode>General</c:formatCode>
                <c:ptCount val="6"/>
                <c:pt idx="0">
                  <c:v>171.33</c:v>
                </c:pt>
                <c:pt idx="1">
                  <c:v>190</c:v>
                </c:pt>
                <c:pt idx="2">
                  <c:v>173.65</c:v>
                </c:pt>
                <c:pt idx="3">
                  <c:v>184.44</c:v>
                </c:pt>
                <c:pt idx="4">
                  <c:v>169.12</c:v>
                </c:pt>
                <c:pt idx="5">
                  <c:v>167.53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6A-4B53-B329-AE60FCD1E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5290272"/>
        <c:axId val="1055289312"/>
      </c:barChart>
      <c:lineChart>
        <c:grouping val="standard"/>
        <c:varyColors val="0"/>
        <c:ser>
          <c:idx val="1"/>
          <c:order val="1"/>
          <c:tx>
            <c:strRef>
              <c:f>科学分析!$C$19</c:f>
              <c:strCache>
                <c:ptCount val="1"/>
                <c:pt idx="0">
                  <c:v>内存 (MB)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2.8165421954613494E-3"/>
                  <c:y val="-2.1520560325350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6A-4B53-B329-AE60FCD1EC8A}"/>
                </c:ext>
              </c:extLst>
            </c:dLbl>
            <c:dLbl>
              <c:idx val="1"/>
              <c:layout>
                <c:manualLayout>
                  <c:x val="2.816542195461375E-3"/>
                  <c:y val="-2.1520560325350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56A-4B53-B329-AE60FCD1EC8A}"/>
                </c:ext>
              </c:extLst>
            </c:dLbl>
            <c:dLbl>
              <c:idx val="2"/>
              <c:layout>
                <c:manualLayout>
                  <c:x val="2.8165421954612717E-3"/>
                  <c:y val="-2.5107320379575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6A-4B53-B329-AE60FCD1EC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科学分析!$A$20:$A$25</c:f>
              <c:strCache>
                <c:ptCount val="6"/>
                <c:pt idx="0">
                  <c:v>Final</c:v>
                </c:pt>
                <c:pt idx="1">
                  <c:v>No TPC </c:v>
                </c:pt>
                <c:pt idx="2">
                  <c:v>CMT (1K)</c:v>
                </c:pt>
                <c:pt idx="3">
                  <c:v>No SQ</c:v>
                </c:pt>
                <c:pt idx="4">
                  <c:v>CMT (1M)</c:v>
                </c:pt>
                <c:pt idx="5">
                  <c:v>No Bitmap</c:v>
                </c:pt>
              </c:strCache>
            </c:strRef>
          </c:cat>
          <c:val>
            <c:numRef>
              <c:f>科学分析!$C$20:$C$25</c:f>
              <c:numCache>
                <c:formatCode>General</c:formatCode>
                <c:ptCount val="6"/>
                <c:pt idx="0">
                  <c:v>3.86</c:v>
                </c:pt>
                <c:pt idx="1">
                  <c:v>2.75</c:v>
                </c:pt>
                <c:pt idx="2">
                  <c:v>3.95</c:v>
                </c:pt>
                <c:pt idx="3">
                  <c:v>3.84</c:v>
                </c:pt>
                <c:pt idx="4">
                  <c:v>83.88</c:v>
                </c:pt>
                <c:pt idx="5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6A-4B53-B329-AE60FCD1E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8797904"/>
        <c:axId val="1308798864"/>
      </c:lineChart>
      <c:catAx>
        <c:axId val="105529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5289312"/>
        <c:crosses val="autoZero"/>
        <c:auto val="1"/>
        <c:lblAlgn val="ctr"/>
        <c:lblOffset val="100"/>
        <c:noMultiLvlLbl val="0"/>
      </c:catAx>
      <c:valAx>
        <c:axId val="1055289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5290272"/>
        <c:crosses val="autoZero"/>
        <c:crossBetween val="between"/>
      </c:valAx>
      <c:valAx>
        <c:axId val="130879886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8797904"/>
        <c:crosses val="max"/>
        <c:crossBetween val="between"/>
      </c:valAx>
      <c:catAx>
        <c:axId val="1308797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087988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不同内存约束下的最佳时间效能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科学分析!$A$13</c:f>
              <c:strCache>
                <c:ptCount val="1"/>
                <c:pt idx="0">
                  <c:v>延迟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科学分析!$B$12:$F$12</c:f>
              <c:strCache>
                <c:ptCount val="5"/>
                <c:pt idx="0">
                  <c:v>2MB</c:v>
                </c:pt>
                <c:pt idx="1">
                  <c:v>4MB (final)</c:v>
                </c:pt>
                <c:pt idx="2">
                  <c:v>108MB</c:v>
                </c:pt>
                <c:pt idx="3">
                  <c:v>180MB</c:v>
                </c:pt>
                <c:pt idx="4">
                  <c:v>2.6GB</c:v>
                </c:pt>
              </c:strCache>
            </c:strRef>
          </c:cat>
          <c:val>
            <c:numRef>
              <c:f>科学分析!$B$13:$F$13</c:f>
              <c:numCache>
                <c:formatCode>General</c:formatCode>
                <c:ptCount val="5"/>
                <c:pt idx="0">
                  <c:v>176.59</c:v>
                </c:pt>
                <c:pt idx="1">
                  <c:v>171.33</c:v>
                </c:pt>
                <c:pt idx="2">
                  <c:v>167.53</c:v>
                </c:pt>
                <c:pt idx="3">
                  <c:v>165.67</c:v>
                </c:pt>
                <c:pt idx="4">
                  <c:v>166.82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E-4513-9C90-153A115DFE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120841664"/>
        <c:axId val="1120839264"/>
      </c:barChart>
      <c:catAx>
        <c:axId val="112084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0839264"/>
        <c:crosses val="autoZero"/>
        <c:auto val="1"/>
        <c:lblAlgn val="ctr"/>
        <c:lblOffset val="100"/>
        <c:noMultiLvlLbl val="0"/>
      </c:catAx>
      <c:valAx>
        <c:axId val="112083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084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难度</a:t>
            </a:r>
            <a:r>
              <a:rPr lang="en-US" altLang="zh-CN"/>
              <a:t>2</a:t>
            </a:r>
            <a:r>
              <a:rPr lang="en-US" altLang="zh-CN" baseline="0"/>
              <a:t>/3 </a:t>
            </a:r>
            <a:r>
              <a:rPr lang="zh-CN" altLang="en-US" baseline="0"/>
              <a:t>延迟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Bar 1</c:v>
                </c:pt>
              </c:strCache>
            </c:strRef>
          </c:tx>
          <c:spPr>
            <a:solidFill>
              <a:schemeClr val="accent5">
                <a:tint val="43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Sheet1!$B$5:$B$6</c:f>
              <c:numCache>
                <c:formatCode>General</c:formatCode>
                <c:ptCount val="2"/>
                <c:pt idx="0">
                  <c:v>93460</c:v>
                </c:pt>
                <c:pt idx="1">
                  <c:v>183792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3D-4C41-A178-A610D40EE68C}"/>
            </c:ext>
          </c:extLst>
        </c:ser>
        <c:ser>
          <c:idx val="1"/>
          <c:order val="1"/>
          <c:tx>
            <c:strRef>
              <c:f>Sheet1!$C$4</c:f>
              <c:strCache>
                <c:ptCount val="1"/>
                <c:pt idx="0">
                  <c:v>Bar 2</c:v>
                </c:pt>
              </c:strCache>
            </c:strRef>
          </c:tx>
          <c:spPr>
            <a:solidFill>
              <a:schemeClr val="accent5">
                <a:tint val="5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Sheet1!$C$5:$C$6</c:f>
              <c:numCache>
                <c:formatCode>General</c:formatCode>
                <c:ptCount val="2"/>
                <c:pt idx="0">
                  <c:v>94643</c:v>
                </c:pt>
                <c:pt idx="1">
                  <c:v>187513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3D-4C41-A178-A610D40EE68C}"/>
            </c:ext>
          </c:extLst>
        </c:ser>
        <c:ser>
          <c:idx val="2"/>
          <c:order val="2"/>
          <c:tx>
            <c:strRef>
              <c:f>Sheet1!$D$4</c:f>
              <c:strCache>
                <c:ptCount val="1"/>
                <c:pt idx="0">
                  <c:v>Bar 3</c:v>
                </c:pt>
              </c:strCache>
            </c:strRef>
          </c:tx>
          <c:spPr>
            <a:solidFill>
              <a:schemeClr val="accent5">
                <a:tint val="69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Sheet1!$D$5:$D$6</c:f>
              <c:numCache>
                <c:formatCode>General</c:formatCode>
                <c:ptCount val="2"/>
                <c:pt idx="0">
                  <c:v>95173</c:v>
                </c:pt>
                <c:pt idx="1">
                  <c:v>192449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3D-4C41-A178-A610D40EE68C}"/>
            </c:ext>
          </c:extLst>
        </c:ser>
        <c:ser>
          <c:idx val="3"/>
          <c:order val="3"/>
          <c:tx>
            <c:strRef>
              <c:f>Sheet1!$E$4</c:f>
              <c:strCache>
                <c:ptCount val="1"/>
                <c:pt idx="0">
                  <c:v>Bar 4</c:v>
                </c:pt>
              </c:strCache>
            </c:strRef>
          </c:tx>
          <c:spPr>
            <a:solidFill>
              <a:schemeClr val="accent5">
                <a:tint val="81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Sheet1!$E$5:$E$6</c:f>
              <c:numCache>
                <c:formatCode>General</c:formatCode>
                <c:ptCount val="2"/>
                <c:pt idx="0">
                  <c:v>96631</c:v>
                </c:pt>
                <c:pt idx="1">
                  <c:v>194854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F3D-4C41-A178-A610D40EE68C}"/>
            </c:ext>
          </c:extLst>
        </c:ser>
        <c:ser>
          <c:idx val="4"/>
          <c:order val="4"/>
          <c:tx>
            <c:strRef>
              <c:f>Sheet1!$F$4</c:f>
              <c:strCache>
                <c:ptCount val="1"/>
                <c:pt idx="0">
                  <c:v>Bar 5</c:v>
                </c:pt>
              </c:strCache>
            </c:strRef>
          </c:tx>
          <c:spPr>
            <a:solidFill>
              <a:schemeClr val="accent5">
                <a:tint val="9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Sheet1!$F$5:$F$6</c:f>
              <c:numCache>
                <c:formatCode>General</c:formatCode>
                <c:ptCount val="2"/>
                <c:pt idx="0">
                  <c:v>103175</c:v>
                </c:pt>
                <c:pt idx="1">
                  <c:v>196091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3D-4C41-A178-A610D40EE68C}"/>
            </c:ext>
          </c:extLst>
        </c:ser>
        <c:ser>
          <c:idx val="5"/>
          <c:order val="5"/>
          <c:tx>
            <c:strRef>
              <c:f>Sheet1!$G$4</c:f>
              <c:strCache>
                <c:ptCount val="1"/>
                <c:pt idx="0">
                  <c:v>Bar 6</c:v>
                </c:pt>
              </c:strCache>
            </c:strRef>
          </c:tx>
          <c:spPr>
            <a:solidFill>
              <a:schemeClr val="accent5">
                <a:shade val="93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Sheet1!$G$5:$G$6</c:f>
              <c:numCache>
                <c:formatCode>General</c:formatCode>
                <c:ptCount val="2"/>
                <c:pt idx="0">
                  <c:v>105484</c:v>
                </c:pt>
                <c:pt idx="1">
                  <c:v>210289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3D-4C41-A178-A610D40EE68C}"/>
            </c:ext>
          </c:extLst>
        </c:ser>
        <c:ser>
          <c:idx val="6"/>
          <c:order val="6"/>
          <c:tx>
            <c:strRef>
              <c:f>Sheet1!$H$4</c:f>
              <c:strCache>
                <c:ptCount val="1"/>
                <c:pt idx="0">
                  <c:v>Bar 7</c:v>
                </c:pt>
              </c:strCache>
            </c:strRef>
          </c:tx>
          <c:spPr>
            <a:solidFill>
              <a:schemeClr val="accent5">
                <a:shade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Sheet1!$H$5:$H$6</c:f>
              <c:numCache>
                <c:formatCode>General</c:formatCode>
                <c:ptCount val="2"/>
                <c:pt idx="0">
                  <c:v>106711</c:v>
                </c:pt>
                <c:pt idx="1">
                  <c:v>210302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3D-4C41-A178-A610D40EE68C}"/>
            </c:ext>
          </c:extLst>
        </c:ser>
        <c:ser>
          <c:idx val="7"/>
          <c:order val="7"/>
          <c:tx>
            <c:strRef>
              <c:f>Sheet1!$I$4</c:f>
              <c:strCache>
                <c:ptCount val="1"/>
                <c:pt idx="0">
                  <c:v>Bar 8</c:v>
                </c:pt>
              </c:strCache>
            </c:strRef>
          </c:tx>
          <c:spPr>
            <a:solidFill>
              <a:schemeClr val="accent5">
                <a:shade val="6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Sheet1!$I$5:$I$6</c:f>
              <c:numCache>
                <c:formatCode>General</c:formatCode>
                <c:ptCount val="2"/>
                <c:pt idx="0">
                  <c:v>106933</c:v>
                </c:pt>
                <c:pt idx="1">
                  <c:v>219609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F3D-4C41-A178-A610D40EE68C}"/>
            </c:ext>
          </c:extLst>
        </c:ser>
        <c:ser>
          <c:idx val="8"/>
          <c:order val="8"/>
          <c:tx>
            <c:strRef>
              <c:f>Sheet1!$J$4</c:f>
              <c:strCache>
                <c:ptCount val="1"/>
                <c:pt idx="0">
                  <c:v>Bar 9</c:v>
                </c:pt>
              </c:strCache>
            </c:strRef>
          </c:tx>
          <c:spPr>
            <a:solidFill>
              <a:schemeClr val="accent5">
                <a:shade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Sheet1!$J$5:$J$6</c:f>
              <c:numCache>
                <c:formatCode>General</c:formatCode>
                <c:ptCount val="2"/>
                <c:pt idx="0">
                  <c:v>111378</c:v>
                </c:pt>
                <c:pt idx="1">
                  <c:v>238003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3D-4C41-A178-A610D40EE68C}"/>
            </c:ext>
          </c:extLst>
        </c:ser>
        <c:ser>
          <c:idx val="9"/>
          <c:order val="9"/>
          <c:tx>
            <c:strRef>
              <c:f>Sheet1!$K$4</c:f>
              <c:strCache>
                <c:ptCount val="1"/>
                <c:pt idx="0">
                  <c:v>Bar 10</c:v>
                </c:pt>
              </c:strCache>
            </c:strRef>
          </c:tx>
          <c:spPr>
            <a:solidFill>
              <a:schemeClr val="accent5">
                <a:shade val="42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Sheet1!$A$5:$A$6</c:f>
              <c:strCache>
                <c:ptCount val="2"/>
                <c:pt idx="0">
                  <c:v>Medium-Random</c:v>
                </c:pt>
                <c:pt idx="1">
                  <c:v>Hard-Random</c:v>
                </c:pt>
              </c:strCache>
            </c:strRef>
          </c:cat>
          <c:val>
            <c:numRef>
              <c:f>Sheet1!$K$5:$K$6</c:f>
              <c:numCache>
                <c:formatCode>General</c:formatCode>
                <c:ptCount val="2"/>
                <c:pt idx="0">
                  <c:v>119899</c:v>
                </c:pt>
                <c:pt idx="1">
                  <c:v>239028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3D-4C41-A178-A610D40EE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23046752"/>
        <c:axId val="1123049632"/>
      </c:barChart>
      <c:catAx>
        <c:axId val="112304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9632"/>
        <c:crosses val="autoZero"/>
        <c:auto val="1"/>
        <c:lblAlgn val="ctr"/>
        <c:lblOffset val="100"/>
        <c:noMultiLvlLbl val="0"/>
      </c:catAx>
      <c:valAx>
        <c:axId val="1123049632"/>
        <c:scaling>
          <c:orientation val="minMax"/>
          <c:max val="2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延迟</a:t>
                </a:r>
                <a:r>
                  <a:rPr lang="en-US" altLang="zh-CN"/>
                  <a:t>(ms)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难度</a:t>
            </a:r>
            <a:r>
              <a:rPr lang="en-US" altLang="zh-CN"/>
              <a:t>1</a:t>
            </a:r>
            <a:r>
              <a:rPr lang="en-US" altLang="zh-CN" baseline="0"/>
              <a:t> </a:t>
            </a:r>
            <a:r>
              <a:rPr lang="zh-CN" altLang="en-US" baseline="0"/>
              <a:t>延迟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 (3)'!$B$4</c:f>
              <c:strCache>
                <c:ptCount val="1"/>
                <c:pt idx="0">
                  <c:v>Bar 1</c:v>
                </c:pt>
              </c:strCache>
            </c:strRef>
          </c:tx>
          <c:spPr>
            <a:solidFill>
              <a:schemeClr val="accent5">
                <a:tint val="43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(3)'!$B$5</c:f>
              <c:numCache>
                <c:formatCode>General</c:formatCode>
                <c:ptCount val="1"/>
                <c:pt idx="0">
                  <c:v>5178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CE-49DC-90B9-6030CAEFDC2A}"/>
            </c:ext>
          </c:extLst>
        </c:ser>
        <c:ser>
          <c:idx val="1"/>
          <c:order val="1"/>
          <c:tx>
            <c:strRef>
              <c:f>'Sheet1 (3)'!$C$4</c:f>
              <c:strCache>
                <c:ptCount val="1"/>
                <c:pt idx="0">
                  <c:v>Bar 2</c:v>
                </c:pt>
              </c:strCache>
            </c:strRef>
          </c:tx>
          <c:spPr>
            <a:solidFill>
              <a:schemeClr val="accent5">
                <a:tint val="56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(3)'!$C$5</c:f>
              <c:numCache>
                <c:formatCode>General</c:formatCode>
                <c:ptCount val="1"/>
                <c:pt idx="0">
                  <c:v>5575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CE-49DC-90B9-6030CAEFDC2A}"/>
            </c:ext>
          </c:extLst>
        </c:ser>
        <c:ser>
          <c:idx val="2"/>
          <c:order val="2"/>
          <c:tx>
            <c:strRef>
              <c:f>'Sheet1 (3)'!$D$4</c:f>
              <c:strCache>
                <c:ptCount val="1"/>
                <c:pt idx="0">
                  <c:v>Bar 3</c:v>
                </c:pt>
              </c:strCache>
            </c:strRef>
          </c:tx>
          <c:spPr>
            <a:solidFill>
              <a:schemeClr val="accent5">
                <a:tint val="69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(3)'!$D$5</c:f>
              <c:numCache>
                <c:formatCode>General</c:formatCode>
                <c:ptCount val="1"/>
                <c:pt idx="0">
                  <c:v>5901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CE-49DC-90B9-6030CAEFDC2A}"/>
            </c:ext>
          </c:extLst>
        </c:ser>
        <c:ser>
          <c:idx val="3"/>
          <c:order val="3"/>
          <c:tx>
            <c:strRef>
              <c:f>'Sheet1 (3)'!$E$4</c:f>
              <c:strCache>
                <c:ptCount val="1"/>
                <c:pt idx="0">
                  <c:v>Bar 4</c:v>
                </c:pt>
              </c:strCache>
            </c:strRef>
          </c:tx>
          <c:spPr>
            <a:solidFill>
              <a:schemeClr val="accent5">
                <a:tint val="81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(3)'!$E$5</c:f>
              <c:numCache>
                <c:formatCode>General</c:formatCode>
                <c:ptCount val="1"/>
                <c:pt idx="0">
                  <c:v>5921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CE-49DC-90B9-6030CAEFDC2A}"/>
            </c:ext>
          </c:extLst>
        </c:ser>
        <c:ser>
          <c:idx val="4"/>
          <c:order val="4"/>
          <c:tx>
            <c:strRef>
              <c:f>'Sheet1 (3)'!$F$4</c:f>
              <c:strCache>
                <c:ptCount val="1"/>
                <c:pt idx="0">
                  <c:v>Bar 5</c:v>
                </c:pt>
              </c:strCache>
            </c:strRef>
          </c:tx>
          <c:spPr>
            <a:solidFill>
              <a:schemeClr val="accent5">
                <a:tint val="94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(3)'!$F$5</c:f>
              <c:numCache>
                <c:formatCode>General</c:formatCode>
                <c:ptCount val="1"/>
                <c:pt idx="0">
                  <c:v>5999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CE-49DC-90B9-6030CAEFDC2A}"/>
            </c:ext>
          </c:extLst>
        </c:ser>
        <c:ser>
          <c:idx val="5"/>
          <c:order val="5"/>
          <c:tx>
            <c:strRef>
              <c:f>'Sheet1 (3)'!$G$4</c:f>
              <c:strCache>
                <c:ptCount val="1"/>
                <c:pt idx="0">
                  <c:v>Bar 6</c:v>
                </c:pt>
              </c:strCache>
            </c:strRef>
          </c:tx>
          <c:spPr>
            <a:solidFill>
              <a:schemeClr val="accent5">
                <a:shade val="93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(3)'!$G$5</c:f>
              <c:numCache>
                <c:formatCode>General</c:formatCode>
                <c:ptCount val="1"/>
                <c:pt idx="0">
                  <c:v>6718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CE-49DC-90B9-6030CAEFDC2A}"/>
            </c:ext>
          </c:extLst>
        </c:ser>
        <c:ser>
          <c:idx val="6"/>
          <c:order val="6"/>
          <c:tx>
            <c:strRef>
              <c:f>'Sheet1 (3)'!$H$4</c:f>
              <c:strCache>
                <c:ptCount val="1"/>
                <c:pt idx="0">
                  <c:v>Bar 7</c:v>
                </c:pt>
              </c:strCache>
            </c:strRef>
          </c:tx>
          <c:spPr>
            <a:solidFill>
              <a:schemeClr val="accent5">
                <a:shade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(3)'!$H$5</c:f>
              <c:numCache>
                <c:formatCode>General</c:formatCode>
                <c:ptCount val="1"/>
                <c:pt idx="0">
                  <c:v>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CE-49DC-90B9-6030CAEFDC2A}"/>
            </c:ext>
          </c:extLst>
        </c:ser>
        <c:ser>
          <c:idx val="7"/>
          <c:order val="7"/>
          <c:tx>
            <c:strRef>
              <c:f>'Sheet1 (3)'!$I$4</c:f>
              <c:strCache>
                <c:ptCount val="1"/>
                <c:pt idx="0">
                  <c:v>Bar 8</c:v>
                </c:pt>
              </c:strCache>
            </c:strRef>
          </c:tx>
          <c:spPr>
            <a:solidFill>
              <a:schemeClr val="accent5">
                <a:shade val="68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(3)'!$I$5</c:f>
              <c:numCache>
                <c:formatCode>General</c:formatCode>
                <c:ptCount val="1"/>
                <c:pt idx="0">
                  <c:v>6946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CE-49DC-90B9-6030CAEFDC2A}"/>
            </c:ext>
          </c:extLst>
        </c:ser>
        <c:ser>
          <c:idx val="8"/>
          <c:order val="8"/>
          <c:tx>
            <c:strRef>
              <c:f>'Sheet1 (3)'!$J$4</c:f>
              <c:strCache>
                <c:ptCount val="1"/>
                <c:pt idx="0">
                  <c:v>Bar 9</c:v>
                </c:pt>
              </c:strCache>
            </c:strRef>
          </c:tx>
          <c:spPr>
            <a:solidFill>
              <a:schemeClr val="accent5">
                <a:shade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(3)'!$J$5</c:f>
              <c:numCache>
                <c:formatCode>General</c:formatCode>
                <c:ptCount val="1"/>
                <c:pt idx="0">
                  <c:v>7511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CE-49DC-90B9-6030CAEFDC2A}"/>
            </c:ext>
          </c:extLst>
        </c:ser>
        <c:ser>
          <c:idx val="9"/>
          <c:order val="9"/>
          <c:tx>
            <c:strRef>
              <c:f>'Sheet1 (3)'!$K$4</c:f>
              <c:strCache>
                <c:ptCount val="1"/>
                <c:pt idx="0">
                  <c:v>Bar 10</c:v>
                </c:pt>
              </c:strCache>
            </c:strRef>
          </c:tx>
          <c:spPr>
            <a:solidFill>
              <a:schemeClr val="accent5">
                <a:shade val="42000"/>
              </a:schemeClr>
            </a:solidFill>
            <a:ln>
              <a:noFill/>
            </a:ln>
            <a:effectLst/>
          </c:spPr>
          <c:invertIfNegative val="0"/>
          <c:cat>
            <c:strRef>
              <c:f>'Sheet1 (3)'!$A$5</c:f>
              <c:strCache>
                <c:ptCount val="1"/>
                <c:pt idx="0">
                  <c:v>Easy-Random</c:v>
                </c:pt>
              </c:strCache>
            </c:strRef>
          </c:cat>
          <c:val>
            <c:numRef>
              <c:f>'Sheet1 (3)'!$K$5</c:f>
              <c:numCache>
                <c:formatCode>General</c:formatCode>
                <c:ptCount val="1"/>
                <c:pt idx="0">
                  <c:v>7613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0CE-49DC-90B9-6030CAEFD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23046752"/>
        <c:axId val="1123049632"/>
      </c:barChart>
      <c:catAx>
        <c:axId val="112304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9632"/>
        <c:crosses val="autoZero"/>
        <c:auto val="1"/>
        <c:lblAlgn val="ctr"/>
        <c:lblOffset val="100"/>
        <c:noMultiLvlLbl val="0"/>
      </c:catAx>
      <c:valAx>
        <c:axId val="1123049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延迟</a:t>
                </a:r>
                <a:r>
                  <a:rPr lang="en-US" altLang="zh-CN"/>
                  <a:t>(ms)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Sheet5!$B$10</c:f>
              <c:strCache>
                <c:ptCount val="1"/>
                <c:pt idx="0">
                  <c:v>Bar 1</c:v>
                </c:pt>
              </c:strCache>
            </c:strRef>
          </c:tx>
          <c:spPr>
            <a:solidFill>
              <a:schemeClr val="accent5">
                <a:tint val="43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Sheet5!$B$11:$B$16</c:f>
              <c:numCache>
                <c:formatCode>General</c:formatCode>
                <c:ptCount val="6"/>
                <c:pt idx="0">
                  <c:v>1920</c:v>
                </c:pt>
                <c:pt idx="1">
                  <c:v>1881</c:v>
                </c:pt>
                <c:pt idx="2">
                  <c:v>1954</c:v>
                </c:pt>
                <c:pt idx="3">
                  <c:v>1927</c:v>
                </c:pt>
                <c:pt idx="4">
                  <c:v>1933</c:v>
                </c:pt>
                <c:pt idx="5">
                  <c:v>1933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F-4EF6-87F3-F65A20F16DAE}"/>
            </c:ext>
          </c:extLst>
        </c:ser>
        <c:ser>
          <c:idx val="1"/>
          <c:order val="1"/>
          <c:tx>
            <c:strRef>
              <c:f>Sheet5!$C$10</c:f>
              <c:strCache>
                <c:ptCount val="1"/>
                <c:pt idx="0">
                  <c:v>Bar 2</c:v>
                </c:pt>
              </c:strCache>
            </c:strRef>
          </c:tx>
          <c:spPr>
            <a:solidFill>
              <a:schemeClr val="accent5">
                <a:tint val="5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Sheet5!$C$11:$C$16</c:f>
              <c:numCache>
                <c:formatCode>General</c:formatCode>
                <c:ptCount val="6"/>
                <c:pt idx="0">
                  <c:v>2064</c:v>
                </c:pt>
                <c:pt idx="1">
                  <c:v>2035</c:v>
                </c:pt>
                <c:pt idx="2">
                  <c:v>2051</c:v>
                </c:pt>
                <c:pt idx="3">
                  <c:v>2017</c:v>
                </c:pt>
                <c:pt idx="4">
                  <c:v>2051</c:v>
                </c:pt>
                <c:pt idx="5">
                  <c:v>1997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9F-4EF6-87F3-F65A20F16DAE}"/>
            </c:ext>
          </c:extLst>
        </c:ser>
        <c:ser>
          <c:idx val="2"/>
          <c:order val="2"/>
          <c:tx>
            <c:strRef>
              <c:f>Sheet5!$D$10</c:f>
              <c:strCache>
                <c:ptCount val="1"/>
                <c:pt idx="0">
                  <c:v>Bar 3</c:v>
                </c:pt>
              </c:strCache>
            </c:strRef>
          </c:tx>
          <c:spPr>
            <a:solidFill>
              <a:schemeClr val="accent5">
                <a:tint val="69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Sheet5!$D$11:$D$16</c:f>
              <c:numCache>
                <c:formatCode>General</c:formatCode>
                <c:ptCount val="6"/>
                <c:pt idx="0">
                  <c:v>2177</c:v>
                </c:pt>
                <c:pt idx="1">
                  <c:v>2141</c:v>
                </c:pt>
                <c:pt idx="2">
                  <c:v>2192</c:v>
                </c:pt>
                <c:pt idx="3">
                  <c:v>2197</c:v>
                </c:pt>
                <c:pt idx="4">
                  <c:v>2161</c:v>
                </c:pt>
                <c:pt idx="5">
                  <c:v>2149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9F-4EF6-87F3-F65A20F16DAE}"/>
            </c:ext>
          </c:extLst>
        </c:ser>
        <c:ser>
          <c:idx val="3"/>
          <c:order val="3"/>
          <c:tx>
            <c:strRef>
              <c:f>Sheet5!$E$10</c:f>
              <c:strCache>
                <c:ptCount val="1"/>
                <c:pt idx="0">
                  <c:v>Bar 4</c:v>
                </c:pt>
              </c:strCache>
            </c:strRef>
          </c:tx>
          <c:spPr>
            <a:solidFill>
              <a:schemeClr val="accent5">
                <a:tint val="81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Sheet5!$E$11:$E$16</c:f>
              <c:numCache>
                <c:formatCode>General</c:formatCode>
                <c:ptCount val="6"/>
                <c:pt idx="0">
                  <c:v>2501</c:v>
                </c:pt>
                <c:pt idx="1">
                  <c:v>2205</c:v>
                </c:pt>
                <c:pt idx="2">
                  <c:v>2545</c:v>
                </c:pt>
                <c:pt idx="3">
                  <c:v>2261</c:v>
                </c:pt>
                <c:pt idx="4">
                  <c:v>2541</c:v>
                </c:pt>
                <c:pt idx="5">
                  <c:v>2452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9F-4EF6-87F3-F65A20F16DAE}"/>
            </c:ext>
          </c:extLst>
        </c:ser>
        <c:ser>
          <c:idx val="4"/>
          <c:order val="4"/>
          <c:tx>
            <c:strRef>
              <c:f>Sheet5!$F$10</c:f>
              <c:strCache>
                <c:ptCount val="1"/>
                <c:pt idx="0">
                  <c:v>Bar 5</c:v>
                </c:pt>
              </c:strCache>
            </c:strRef>
          </c:tx>
          <c:spPr>
            <a:solidFill>
              <a:schemeClr val="accent5">
                <a:tint val="9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Sheet5!$F$11:$F$16</c:f>
              <c:numCache>
                <c:formatCode>General</c:formatCode>
                <c:ptCount val="6"/>
                <c:pt idx="0">
                  <c:v>2715</c:v>
                </c:pt>
                <c:pt idx="1">
                  <c:v>2571</c:v>
                </c:pt>
                <c:pt idx="2">
                  <c:v>2706</c:v>
                </c:pt>
                <c:pt idx="3">
                  <c:v>2593</c:v>
                </c:pt>
                <c:pt idx="4">
                  <c:v>2705</c:v>
                </c:pt>
                <c:pt idx="5">
                  <c:v>2468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9F-4EF6-87F3-F65A20F16DAE}"/>
            </c:ext>
          </c:extLst>
        </c:ser>
        <c:ser>
          <c:idx val="5"/>
          <c:order val="5"/>
          <c:tx>
            <c:strRef>
              <c:f>Sheet5!$G$10</c:f>
              <c:strCache>
                <c:ptCount val="1"/>
                <c:pt idx="0">
                  <c:v>Bar 6</c:v>
                </c:pt>
              </c:strCache>
            </c:strRef>
          </c:tx>
          <c:spPr>
            <a:solidFill>
              <a:schemeClr val="accent5">
                <a:shade val="93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Sheet5!$G$11:$G$16</c:f>
              <c:numCache>
                <c:formatCode>General</c:formatCode>
                <c:ptCount val="6"/>
                <c:pt idx="0">
                  <c:v>3189</c:v>
                </c:pt>
                <c:pt idx="1">
                  <c:v>2704</c:v>
                </c:pt>
                <c:pt idx="2">
                  <c:v>3196</c:v>
                </c:pt>
                <c:pt idx="3">
                  <c:v>2721</c:v>
                </c:pt>
                <c:pt idx="4">
                  <c:v>3250</c:v>
                </c:pt>
                <c:pt idx="5">
                  <c:v>2719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A9F-4EF6-87F3-F65A20F16DAE}"/>
            </c:ext>
          </c:extLst>
        </c:ser>
        <c:ser>
          <c:idx val="6"/>
          <c:order val="6"/>
          <c:tx>
            <c:strRef>
              <c:f>Sheet5!$H$10</c:f>
              <c:strCache>
                <c:ptCount val="1"/>
                <c:pt idx="0">
                  <c:v>Bar 7</c:v>
                </c:pt>
              </c:strCache>
            </c:strRef>
          </c:tx>
          <c:spPr>
            <a:solidFill>
              <a:schemeClr val="accent5">
                <a:shade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Sheet5!$H$11:$H$16</c:f>
              <c:numCache>
                <c:formatCode>General</c:formatCode>
                <c:ptCount val="6"/>
                <c:pt idx="0">
                  <c:v>3539</c:v>
                </c:pt>
                <c:pt idx="1">
                  <c:v>3211</c:v>
                </c:pt>
                <c:pt idx="2">
                  <c:v>3519</c:v>
                </c:pt>
                <c:pt idx="3">
                  <c:v>3171</c:v>
                </c:pt>
                <c:pt idx="4">
                  <c:v>3529</c:v>
                </c:pt>
                <c:pt idx="5">
                  <c:v>3255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9F-4EF6-87F3-F65A20F16DAE}"/>
            </c:ext>
          </c:extLst>
        </c:ser>
        <c:ser>
          <c:idx val="7"/>
          <c:order val="7"/>
          <c:tx>
            <c:strRef>
              <c:f>Sheet5!$I$10</c:f>
              <c:strCache>
                <c:ptCount val="1"/>
                <c:pt idx="0">
                  <c:v>Bar 8</c:v>
                </c:pt>
              </c:strCache>
            </c:strRef>
          </c:tx>
          <c:spPr>
            <a:solidFill>
              <a:schemeClr val="accent5">
                <a:shade val="6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Sheet5!$I$11:$I$16</c:f>
              <c:numCache>
                <c:formatCode>General</c:formatCode>
                <c:ptCount val="6"/>
                <c:pt idx="0">
                  <c:v>3763</c:v>
                </c:pt>
                <c:pt idx="1">
                  <c:v>3563</c:v>
                </c:pt>
                <c:pt idx="2">
                  <c:v>3949</c:v>
                </c:pt>
                <c:pt idx="3">
                  <c:v>3539</c:v>
                </c:pt>
                <c:pt idx="4">
                  <c:v>4103</c:v>
                </c:pt>
                <c:pt idx="5">
                  <c:v>3513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9F-4EF6-87F3-F65A20F16DAE}"/>
            </c:ext>
          </c:extLst>
        </c:ser>
        <c:ser>
          <c:idx val="8"/>
          <c:order val="8"/>
          <c:tx>
            <c:strRef>
              <c:f>Sheet5!$J$10</c:f>
              <c:strCache>
                <c:ptCount val="1"/>
                <c:pt idx="0">
                  <c:v>Bar 9</c:v>
                </c:pt>
              </c:strCache>
            </c:strRef>
          </c:tx>
          <c:spPr>
            <a:solidFill>
              <a:schemeClr val="accent5">
                <a:shade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Sheet5!$J$11:$J$16</c:f>
              <c:numCache>
                <c:formatCode>General</c:formatCode>
                <c:ptCount val="6"/>
                <c:pt idx="0">
                  <c:v>4504</c:v>
                </c:pt>
                <c:pt idx="1">
                  <c:v>3751</c:v>
                </c:pt>
                <c:pt idx="2">
                  <c:v>10391</c:v>
                </c:pt>
                <c:pt idx="3">
                  <c:v>3963</c:v>
                </c:pt>
                <c:pt idx="4">
                  <c:v>17474</c:v>
                </c:pt>
                <c:pt idx="5">
                  <c:v>4083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9F-4EF6-87F3-F65A20F16DAE}"/>
            </c:ext>
          </c:extLst>
        </c:ser>
        <c:ser>
          <c:idx val="9"/>
          <c:order val="9"/>
          <c:tx>
            <c:strRef>
              <c:f>Sheet5!$K$10</c:f>
              <c:strCache>
                <c:ptCount val="1"/>
                <c:pt idx="0">
                  <c:v>Bar 10</c:v>
                </c:pt>
              </c:strCache>
            </c:strRef>
          </c:tx>
          <c:spPr>
            <a:solidFill>
              <a:schemeClr val="accent5">
                <a:shade val="42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Sheet5!$A$11:$A$16</c:f>
              <c:strCache>
                <c:ptCount val="6"/>
                <c:pt idx="0">
                  <c:v>Easy-R</c:v>
                </c:pt>
                <c:pt idx="1">
                  <c:v>Easy-S</c:v>
                </c:pt>
                <c:pt idx="2">
                  <c:v>Medium-R</c:v>
                </c:pt>
                <c:pt idx="3">
                  <c:v>Medium-S</c:v>
                </c:pt>
                <c:pt idx="4">
                  <c:v>Hard-R</c:v>
                </c:pt>
                <c:pt idx="5">
                  <c:v>Hard-S</c:v>
                </c:pt>
              </c:strCache>
            </c:strRef>
          </c:cat>
          <c:val>
            <c:numRef>
              <c:f>Sheet5!$K$11:$K$16</c:f>
              <c:numCache>
                <c:formatCode>General</c:formatCode>
                <c:ptCount val="6"/>
                <c:pt idx="0">
                  <c:v>20087</c:v>
                </c:pt>
                <c:pt idx="1">
                  <c:v>14284</c:v>
                </c:pt>
                <c:pt idx="2">
                  <c:v>21267</c:v>
                </c:pt>
                <c:pt idx="3">
                  <c:v>15078</c:v>
                </c:pt>
                <c:pt idx="4">
                  <c:v>22879</c:v>
                </c:pt>
                <c:pt idx="5">
                  <c:v>16651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A9F-4EF6-87F3-F65A20F16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23046752"/>
        <c:axId val="1123049632"/>
      </c:barChart>
      <c:catAx>
        <c:axId val="112304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9632"/>
        <c:crosses val="autoZero"/>
        <c:auto val="1"/>
        <c:lblAlgn val="ctr"/>
        <c:lblOffset val="100"/>
        <c:noMultiLvlLbl val="0"/>
      </c:catAx>
      <c:valAx>
        <c:axId val="1123049632"/>
        <c:scaling>
          <c:orientation val="minMax"/>
          <c:max val="5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内存</a:t>
                </a:r>
                <a:r>
                  <a:rPr lang="en-US" altLang="zh-CN"/>
                  <a:t>(KB)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046752"/>
        <c:crosses val="autoZero"/>
        <c:crossBetween val="between"/>
        <c:minorUnit val="4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67f91bc-5feb-42a0-b1ef-31dc544cffca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ECBAE-5ADD-424A-9956-783D7C8C4534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0BF92-DFE1-4A6B-BD2A-5601B09198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尊敬的各位评委老师：</a:t>
            </a:r>
          </a:p>
          <a:p>
            <a:r>
              <a:rPr lang="zh-CN" altLang="en-US" dirty="0"/>
              <a:t>大家好！</a:t>
            </a:r>
          </a:p>
          <a:p>
            <a:r>
              <a:rPr lang="zh-CN" altLang="en-US" dirty="0"/>
              <a:t>我是来自</a:t>
            </a:r>
            <a:r>
              <a:rPr lang="en-US" altLang="zh-CN" dirty="0"/>
              <a:t>AIMS</a:t>
            </a:r>
            <a:r>
              <a:rPr lang="zh-CN" altLang="en-US" dirty="0"/>
              <a:t>小分队的</a:t>
            </a:r>
            <a:r>
              <a:rPr lang="en-US" altLang="zh-CN" dirty="0"/>
              <a:t>XXX</a:t>
            </a:r>
            <a:r>
              <a:rPr lang="zh-CN" altLang="en-US" dirty="0"/>
              <a:t>，今天非常荣幸能站在这里，向各位汇报我们团队在本次存储大赛中的参赛作品</a:t>
            </a:r>
            <a:r>
              <a:rPr lang="en-US" altLang="zh-CN" dirty="0"/>
              <a:t>——</a:t>
            </a:r>
            <a:r>
              <a:rPr lang="zh-CN" altLang="en-US" dirty="0"/>
              <a:t>大容量</a:t>
            </a:r>
            <a:r>
              <a:rPr lang="en-US" altLang="zh-CN" dirty="0"/>
              <a:t>SSD</a:t>
            </a:r>
            <a:r>
              <a:rPr lang="zh-CN" altLang="en-US" dirty="0"/>
              <a:t>数据管理算法设计与实现。接下来，我将从赛题介绍、方案背景、测试效果等方面，为大家详细讲述我们的工作。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面对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SSD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容量扩张但内存容量有限、大粒度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IO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小粒度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FTL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不适配导致访问性能低下的发展现状，我们的核心难题是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如何在有限内存容量下，保证小粒度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FTL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的访问性能？</a:t>
            </a:r>
            <a:endParaRPr lang="zh-CN" altLang="en-US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Tx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FTL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的映射粒度大致分成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页级映射、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块级映射、混合级映射、可变长度映射，</a:t>
            </a:r>
          </a:p>
          <a:p>
            <a:pPr lvl="0">
              <a:buClrTx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块级映射写放大严重，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不适配小粒度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FTL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需求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混合级映射存在日志块的合并操作，性能抖动剧烈，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不适配高访问性能需求</a:t>
            </a:r>
          </a:p>
          <a:p>
            <a:pPr lvl="0">
              <a:buClrTx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可变长度映射元数据管理开销复杂，内存需求难以估计，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不适配有限内存容量需求</a:t>
            </a:r>
          </a:p>
          <a:p>
            <a:pPr lvl="0">
              <a:buClrTx/>
            </a:pP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以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DFTL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为典型代表的页级映射在内存容量、映射粒度、访问性能三者间达成较好平衡，因此我们的设计从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DFTL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开始展开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ClrTx/>
            </a:pPr>
            <a:r>
              <a:rPr lang="en-US" altLang="zh-CN" dirty="0"/>
              <a:t>DFTL</a:t>
            </a:r>
            <a:r>
              <a:rPr lang="zh-CN" altLang="en-US" dirty="0"/>
              <a:t>的核心思想是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闪存存储全局映射表，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DRAM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使用缓存映射表（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CMT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）存储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访问频率高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的映射条目，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CMT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未命中时通过全局翻译目录（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GTD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）找到映射条目在全局映射表的位置</a:t>
            </a:r>
          </a:p>
          <a:p>
            <a:pPr lvl="1">
              <a:buClrTx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然而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DFTL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也存在一些瓶颈：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Tx/>
            </a:pP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访问时延瓶颈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：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对数据局部性支持不足，面对大规模顺序读写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场景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性能不佳</a:t>
            </a:r>
          </a:p>
          <a:p>
            <a:pPr lvl="1"/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内存占用瓶颈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：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标准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需要存储完整的物理页号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延迟抖动与阻塞瓶颈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使用传统同步架构，高并发场景下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无法保障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Miss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时的阻塞会导致吞吐率剧烈波动</a:t>
            </a:r>
            <a:endParaRPr lang="zh-CN" alt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传统</a:t>
            </a:r>
            <a:r>
              <a:rPr lang="en-US" altLang="zh-CN" b="1" dirty="0"/>
              <a:t>DFTL</a:t>
            </a:r>
            <a:r>
              <a:rPr lang="zh-CN" altLang="en-US" b="1" dirty="0"/>
              <a:t>的瓶颈来自其设计上的不足：</a:t>
            </a:r>
            <a:endParaRPr lang="en-US" altLang="zh-CN" b="1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b="1" dirty="0"/>
              <a:t>仅使用缓存映射表（</a:t>
            </a:r>
            <a:r>
              <a:rPr lang="en-US" altLang="zh-CN" b="1" dirty="0"/>
              <a:t>CMT</a:t>
            </a:r>
            <a:r>
              <a:rPr lang="zh-CN" altLang="en-US" b="1" dirty="0"/>
              <a:t>）进行细粒度缓存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b="1" dirty="0"/>
              <a:t>GTD</a:t>
            </a:r>
            <a:r>
              <a:rPr lang="zh-CN" altLang="en-US" b="1" dirty="0"/>
              <a:t>内存开销大</a:t>
            </a:r>
            <a:endParaRPr lang="en-US" altLang="zh-CN" b="1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b="1" dirty="0"/>
              <a:t>无调度策略，使用传统同步架构</a:t>
            </a:r>
          </a:p>
          <a:p>
            <a:pPr marL="228600" indent="-228600">
              <a:buFont typeface="+mj-lt"/>
              <a:buAutoNum type="arabicPeriod"/>
            </a:pP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CN" altLang="en-US" b="1" dirty="0"/>
              <a:t>因此，</a:t>
            </a:r>
            <a:r>
              <a:rPr lang="zh-CN" altLang="en-US" dirty="0"/>
              <a:t> 我们提出</a:t>
            </a:r>
            <a:r>
              <a:rPr lang="en-US" altLang="zh-CN" dirty="0"/>
              <a:t>AIMS-FTL</a:t>
            </a:r>
            <a:r>
              <a:rPr lang="zh-CN" altLang="en-US" dirty="0"/>
              <a:t>，引入了 </a:t>
            </a:r>
            <a:r>
              <a:rPr lang="zh-CN" altLang="en-US" b="1" dirty="0"/>
              <a:t>“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映射页缓存（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lang="zh-CN" altLang="en-US" b="1" dirty="0"/>
              <a:t>”</a:t>
            </a:r>
            <a:r>
              <a:rPr lang="zh-CN" altLang="en-US" dirty="0"/>
              <a:t> 、 </a:t>
            </a:r>
            <a:r>
              <a:rPr lang="zh-CN" altLang="en-US" b="1" dirty="0"/>
              <a:t>“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位图压缩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</a:t>
            </a:r>
            <a:r>
              <a:rPr lang="en-US" altLang="zh-CN" b="1" dirty="0"/>
              <a:t>”</a:t>
            </a:r>
            <a:r>
              <a:rPr lang="zh-CN" altLang="en-US" dirty="0"/>
              <a:t> 以及 “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队列和提交批处理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机制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90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AIMS-FTL</a:t>
            </a:r>
            <a:r>
              <a:rPr lang="zh-CN" altLang="en-US" dirty="0"/>
              <a:t>是基于</a:t>
            </a:r>
            <a:r>
              <a:rPr lang="en-US" altLang="zh-CN" dirty="0"/>
              <a:t>DFTL</a:t>
            </a:r>
            <a:r>
              <a:rPr lang="zh-CN" altLang="en-US" dirty="0"/>
              <a:t>的一套面向大容量、低时延、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大规模顺序读写</a:t>
            </a:r>
            <a:r>
              <a:rPr lang="zh-CN" altLang="en-US" dirty="0"/>
              <a:t>需求的新型 </a:t>
            </a:r>
            <a:r>
              <a:rPr lang="en-US" altLang="zh-CN" dirty="0"/>
              <a:t>FTL </a:t>
            </a:r>
            <a:r>
              <a:rPr lang="zh-CN" altLang="en-US" dirty="0"/>
              <a:t>架构。整体架构采用 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调度层 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映射层 </a:t>
            </a:r>
            <a:r>
              <a:rPr lang="zh-CN" altLang="en-US" dirty="0"/>
              <a:t>设计：</a:t>
            </a:r>
            <a:endParaRPr lang="en-US" altLang="zh-CN" dirty="0"/>
          </a:p>
          <a:p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调度层包含 提交队列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(Submission Queue, SQ)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和 提交批处理 设计；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映射层以 全局映射目录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(GTD)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和 映射页缓存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(TPC)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为核心维护页级映射 （如图中映射层所示）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56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Tx/>
            </a:pP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为了解决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架构存在的访问局部性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(Locality)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浪费问题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dirty="0">
                <a:effectLst/>
              </a:rPr>
              <a:t>我们引入了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</a:t>
            </a:r>
            <a:r>
              <a:rPr lang="zh-CN" altLang="en-US" dirty="0">
                <a:effectLst/>
              </a:rPr>
              <a:t>，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中缓存映射页信息，其中包含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LBA-PPN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条目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时，可以通过一次磁盘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I/O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将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0-511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全部存入缓存；写回磁盘时也可以一次写回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个条目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就能很好地利用数据局部性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能使顺序写性能提升</a:t>
            </a:r>
            <a:r>
              <a:rPr lang="en-US" altLang="zh-CN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en-US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倍以上</a:t>
            </a:r>
            <a:endParaRPr lang="en-US" altLang="zh-CN" sz="19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364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设计点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为全局翻译页的位图的压缩。传统的</a:t>
            </a:r>
            <a:r>
              <a:rPr lang="en-US" altLang="zh-CN" dirty="0">
                <a:effectLst/>
              </a:rPr>
              <a:t>GTD</a:t>
            </a:r>
            <a:r>
              <a:rPr lang="zh-CN" altLang="en-US" dirty="0">
                <a:effectLst/>
              </a:rPr>
              <a:t>需要存储整个</a:t>
            </a:r>
            <a:r>
              <a:rPr lang="en-US" altLang="zh-CN" dirty="0">
                <a:effectLst/>
              </a:rPr>
              <a:t>PPN</a:t>
            </a:r>
            <a:r>
              <a:rPr lang="zh-CN" altLang="en-US" dirty="0">
                <a:effectLst/>
              </a:rPr>
              <a:t>页号，而我们的</a:t>
            </a:r>
            <a:r>
              <a:rPr lang="en-US" altLang="zh-CN" dirty="0">
                <a:effectLst/>
              </a:rPr>
              <a:t>GTD</a:t>
            </a:r>
            <a:r>
              <a:rPr lang="zh-CN" altLang="en-US" dirty="0">
                <a:effectLst/>
              </a:rPr>
              <a:t>中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每个比特位仅用于标记一个映射页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(MVPN)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是否已被分配，</a:t>
            </a:r>
            <a:r>
              <a:rPr lang="zh-CN" altLang="zh-CN" sz="1800" b="0" kern="120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将元数据内存占用降低了 </a:t>
            </a:r>
            <a:r>
              <a:rPr lang="en-US" altLang="zh-CN" sz="1800" b="0" kern="120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64 </a:t>
            </a:r>
            <a:r>
              <a:rPr lang="zh-CN" altLang="zh-CN" sz="1800" b="0" kern="120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倍</a:t>
            </a:r>
            <a:r>
              <a:rPr lang="zh-CN" altLang="en-US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！</a:t>
            </a:r>
            <a:endParaRPr lang="en-US" altLang="zh-CN" sz="1200" b="0" kern="1200" baseline="0" dirty="0">
              <a:solidFill>
                <a:schemeClr val="tx1"/>
              </a:solidFill>
              <a:effectLst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（现实场景的</a:t>
            </a:r>
            <a:r>
              <a:rPr lang="en-US" altLang="zh-CN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MPN</a:t>
            </a:r>
            <a:r>
              <a:rPr lang="zh-CN" altLang="en-US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PPN</a:t>
            </a:r>
            <a:r>
              <a:rPr lang="zh-CN" altLang="en-US" sz="1200" b="0" kern="1200" baseline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  <a:cs typeface="+mn-cs"/>
              </a:rPr>
              <a:t>可能没有这么确定的关系，因为有磨损均衡和垃圾回收，不过大规模顺序写场景应该还是可以的，类似学习索引的思想）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01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我们设计的新型 </a:t>
            </a:r>
            <a:r>
              <a:rPr lang="en-US" altLang="zh-CN" dirty="0"/>
              <a:t>FTL </a:t>
            </a:r>
            <a:r>
              <a:rPr lang="zh-CN" altLang="en-US" dirty="0"/>
              <a:t>架构引入了请求调度策略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 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为应对延迟抖动、减少阻塞，将最近请求以队列形式维护，将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的控制面重构为异步模型，可支持更复杂的请求调度策略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提交批处理：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为降低锁竞争和上下文切换开销、提升吞吐量，将单次请求的提交转化为批量提交，比如一次提交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4096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个请求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该请求调度策略显著减少了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架构中的阻塞现象，延迟降低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7.1%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以上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FF0000"/>
                </a:solidFill>
              </a:rPr>
              <a:t>这一页的图得改！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356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我们使用自行构造的（包含</a:t>
            </a:r>
            <a:r>
              <a:rPr lang="en-US" altLang="zh-CN" dirty="0"/>
              <a:t>500M</a:t>
            </a:r>
            <a:r>
              <a:rPr lang="zh-CN" altLang="en-US" dirty="0"/>
              <a:t>条预热写和</a:t>
            </a:r>
            <a:r>
              <a:rPr lang="en-US" altLang="zh-CN" dirty="0"/>
              <a:t>1M</a:t>
            </a:r>
            <a:r>
              <a:rPr lang="zh-CN" altLang="en-US" dirty="0"/>
              <a:t>随机读写的）数据集进行消融实验，验证不同模块的有效性。</a:t>
            </a:r>
          </a:p>
          <a:p>
            <a:r>
              <a:rPr lang="zh-CN" altLang="en-US" dirty="0"/>
              <a:t>（补充说明：比如，关闭最大容量</a:t>
            </a:r>
            <a:r>
              <a:rPr lang="en-US" altLang="zh-CN" dirty="0"/>
              <a:t>1M</a:t>
            </a:r>
            <a:r>
              <a:rPr lang="zh-CN" altLang="en-US" dirty="0"/>
              <a:t>条目的</a:t>
            </a:r>
            <a:r>
              <a:rPr lang="en-US" altLang="zh-CN" dirty="0"/>
              <a:t>CMT</a:t>
            </a:r>
            <a:r>
              <a:rPr lang="zh-CN" altLang="en-US" dirty="0"/>
              <a:t>后，内存明显减少，而性能降低仅</a:t>
            </a:r>
            <a:r>
              <a:rPr lang="en-US" altLang="zh-CN" dirty="0"/>
              <a:t>1%</a:t>
            </a:r>
            <a:r>
              <a:rPr lang="zh-CN" altLang="en-US" dirty="0"/>
              <a:t>左右。）</a:t>
            </a:r>
          </a:p>
          <a:p>
            <a:r>
              <a:rPr lang="zh-CN" altLang="en-US" dirty="0"/>
              <a:t>我们也进行了敏感性分析，配置不同参数来测试不同内存约束下能达到的最佳性能。根据分析，我们选择了</a:t>
            </a:r>
            <a:r>
              <a:rPr lang="en-US" altLang="zh-CN" dirty="0"/>
              <a:t>4MB</a:t>
            </a:r>
            <a:r>
              <a:rPr lang="zh-CN" altLang="en-US" dirty="0"/>
              <a:t>内存的方案作为最终提交方案。</a:t>
            </a:r>
          </a:p>
          <a:p>
            <a:r>
              <a:rPr lang="zh-CN" altLang="en-US" dirty="0"/>
              <a:t>（补充说明：可以看到，虽然我们可以将内存压缩到</a:t>
            </a:r>
            <a:r>
              <a:rPr lang="en-US" altLang="zh-CN" dirty="0"/>
              <a:t>2MB</a:t>
            </a:r>
            <a:r>
              <a:rPr lang="zh-CN" altLang="en-US" dirty="0"/>
              <a:t>，但这会带来接近</a:t>
            </a:r>
            <a:r>
              <a:rPr lang="en-US" altLang="zh-CN" dirty="0"/>
              <a:t>3%</a:t>
            </a:r>
            <a:r>
              <a:rPr lang="zh-CN" altLang="en-US" dirty="0"/>
              <a:t>的延迟开销。而如果增大可使用内存，比如</a:t>
            </a:r>
            <a:r>
              <a:rPr lang="en-US" altLang="zh-CN" dirty="0"/>
              <a:t>CMT</a:t>
            </a:r>
            <a:r>
              <a:rPr lang="zh-CN" altLang="en-US" dirty="0"/>
              <a:t>的大小，能带来的优化效果存在边际效益递减，甚至引入额外的开销）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34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接下来请看系统的实际性能表现。</a:t>
            </a:r>
            <a:endParaRPr lang="en-US" altLang="zh-CN" dirty="0"/>
          </a:p>
          <a:p>
            <a:r>
              <a:rPr lang="zh-CN" altLang="en-US" dirty="0"/>
              <a:t>延迟方面，对于随机读写请求场景，我们位居前列，并且性能提升明显。如在困难数据集下，我们相比第</a:t>
            </a:r>
            <a:r>
              <a:rPr lang="en-US" altLang="zh-CN" dirty="0"/>
              <a:t>5</a:t>
            </a:r>
            <a:r>
              <a:rPr lang="zh-CN" altLang="en-US" dirty="0"/>
              <a:t>名以后的队伍有</a:t>
            </a:r>
            <a:r>
              <a:rPr lang="en-US" altLang="zh-CN" dirty="0"/>
              <a:t>8.5%</a:t>
            </a:r>
            <a:r>
              <a:rPr lang="zh-CN" altLang="en-US" dirty="0"/>
              <a:t>以上的性能提升。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最终，小组的综合排名为第五名。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053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Tx/>
            </a:pP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为了解决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架构存在的访问局部性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(Locality) 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浪费问题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dirty="0">
                <a:effectLst/>
              </a:rPr>
              <a:t>我们引入了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</a:t>
            </a:r>
            <a:r>
              <a:rPr lang="zh-CN" altLang="en-US" dirty="0">
                <a:effectLst/>
              </a:rPr>
              <a:t>，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中缓存映射页信息，其中包含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LBA-PPN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条目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时，可以通过一次磁盘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I/O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将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0-511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全部存入缓存；写回磁盘时也可以一次写回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个条目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就能很好地利用数据局部性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能使顺序写性能提升</a:t>
            </a:r>
            <a:r>
              <a:rPr lang="en-US" altLang="zh-CN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en-US" sz="19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倍以上</a:t>
            </a:r>
            <a:endParaRPr lang="en-US" altLang="zh-CN" sz="19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4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内存方面，开销稳定在</a:t>
            </a:r>
            <a:r>
              <a:rPr lang="en-US" altLang="zh-CN" dirty="0"/>
              <a:t>4MB</a:t>
            </a:r>
            <a:r>
              <a:rPr lang="zh-CN" altLang="en-US" dirty="0"/>
              <a:t>以内，虽然排名较后，但与榜首队伍的差距仅约</a:t>
            </a:r>
            <a:r>
              <a:rPr lang="en-US" altLang="zh-CN" dirty="0"/>
              <a:t>2MB</a:t>
            </a:r>
            <a:r>
              <a:rPr lang="zh-CN" altLang="en-US" dirty="0"/>
              <a:t>，这对于</a:t>
            </a:r>
            <a:r>
              <a:rPr lang="en-US" altLang="zh-CN" dirty="0"/>
              <a:t>16GB</a:t>
            </a:r>
            <a:r>
              <a:rPr lang="zh-CN" altLang="en-US" dirty="0"/>
              <a:t>的应用场景影响微乎其微。</a:t>
            </a:r>
          </a:p>
          <a:p>
            <a:r>
              <a:rPr lang="zh-CN" altLang="en-US" dirty="0"/>
              <a:t>小组的综合排名为第五名。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352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strace</a:t>
            </a:r>
            <a:r>
              <a:rPr lang="zh-CN" altLang="en-US" dirty="0"/>
              <a:t>工具测试系统调用测试，验证了优化效果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0BF92-DFE1-4A6B-BD2A-5601B09198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048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-2"/>
            <a:ext cx="12192000" cy="108507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44220"/>
            <a:ext cx="9144000" cy="225920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4950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82009" y="3676465"/>
            <a:ext cx="11227981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3110" y="286859"/>
            <a:ext cx="4729158" cy="478902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732" y="131018"/>
            <a:ext cx="3408602" cy="823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2241266"/>
            <a:ext cx="12191999" cy="2260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95450" y="2234820"/>
            <a:ext cx="9144000" cy="2259208"/>
          </a:xfrm>
        </p:spPr>
        <p:txBody>
          <a:bodyPr anchor="ctr" anchorCtr="0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95450" y="484010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0" y="628650"/>
            <a:ext cx="4566529" cy="11026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6720" y="1253330"/>
            <a:ext cx="11338560" cy="4839125"/>
          </a:xfrm>
        </p:spPr>
        <p:txBody>
          <a:bodyPr/>
          <a:lstStyle>
            <a:lvl1pPr>
              <a:buClrTx/>
              <a:buSzPct val="60000"/>
              <a:buFont typeface="Wingdings" panose="05000000000000000000" pitchFamily="2" charset="2"/>
              <a:buChar char="l"/>
              <a:defRPr b="0">
                <a:solidFill>
                  <a:srgbClr val="1F4E79"/>
                </a:solidFill>
              </a:defRPr>
            </a:lvl1pPr>
            <a:lvl2pPr marL="914400" indent="-457200">
              <a:buClrTx/>
              <a:buSzPct val="60000"/>
              <a:buFont typeface="Wingdings" panose="05000000000000000000" pitchFamily="2" charset="2"/>
              <a:buChar char="l"/>
              <a:defRPr/>
            </a:lvl2pPr>
            <a:lvl3pPr marL="1371600" indent="-457200">
              <a:buClrTx/>
              <a:buSzPct val="60000"/>
              <a:buFont typeface="Wingdings" panose="05000000000000000000" pitchFamily="2" charset="2"/>
              <a:buChar char="l"/>
              <a:defRPr/>
            </a:lvl3pPr>
            <a:lvl4pPr marL="1828800" indent="-457200">
              <a:buClrTx/>
              <a:buSzPct val="60000"/>
              <a:buFont typeface="Wingdings" panose="05000000000000000000" pitchFamily="2" charset="2"/>
              <a:buChar char="l"/>
              <a:defRPr/>
            </a:lvl4pPr>
            <a:lvl5pPr marL="2286000" indent="-457200">
              <a:buClrTx/>
              <a:buSzPct val="60000"/>
              <a:buFont typeface="Wingdings" panose="05000000000000000000" pitchFamily="2" charset="2"/>
              <a:buChar char="l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26720" y="0"/>
            <a:ext cx="11338560" cy="1085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2640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C2DFBE24-ADDF-4500-8714-AD602638440A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47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027D1E9A-BFAD-4643-AE60-B796D188B9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426720" y="1085074"/>
            <a:ext cx="8100000" cy="0"/>
          </a:xfrm>
          <a:prstGeom prst="line">
            <a:avLst/>
          </a:prstGeom>
          <a:ln w="25400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6934" y="264507"/>
            <a:ext cx="2855756" cy="68954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2709000"/>
            <a:ext cx="12192000" cy="14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889000"/>
            <a:ext cx="10515600" cy="1217428"/>
          </a:xfrm>
        </p:spPr>
        <p:txBody>
          <a:bodyPr>
            <a:noAutofit/>
          </a:bodyPr>
          <a:lstStyle>
            <a:lvl1pPr algn="ctr"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-2"/>
            <a:ext cx="12192000" cy="108507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44220"/>
            <a:ext cx="9144000" cy="225920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4950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82009" y="3676465"/>
            <a:ext cx="11227981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3110" y="286859"/>
            <a:ext cx="4729158" cy="478902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732" y="131018"/>
            <a:ext cx="3408602" cy="823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2241266"/>
            <a:ext cx="12191999" cy="2260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95450" y="2234820"/>
            <a:ext cx="9144000" cy="2259208"/>
          </a:xfrm>
        </p:spPr>
        <p:txBody>
          <a:bodyPr anchor="ctr" anchorCtr="0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95450" y="484010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0" y="628650"/>
            <a:ext cx="4566529" cy="11026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6720" y="1253330"/>
            <a:ext cx="11338560" cy="4839125"/>
          </a:xfrm>
        </p:spPr>
        <p:txBody>
          <a:bodyPr/>
          <a:lstStyle>
            <a:lvl1pPr>
              <a:buClrTx/>
              <a:buSzPct val="60000"/>
              <a:buFont typeface="Wingdings" panose="05000000000000000000" pitchFamily="2" charset="2"/>
              <a:buChar char="l"/>
              <a:defRPr b="0">
                <a:solidFill>
                  <a:srgbClr val="1F4E79"/>
                </a:solidFill>
              </a:defRPr>
            </a:lvl1pPr>
            <a:lvl2pPr marL="914400" indent="-457200">
              <a:buClrTx/>
              <a:buSzPct val="60000"/>
              <a:buFont typeface="Wingdings" panose="05000000000000000000" pitchFamily="2" charset="2"/>
              <a:buChar char="l"/>
              <a:defRPr/>
            </a:lvl2pPr>
            <a:lvl3pPr marL="1371600" indent="-457200">
              <a:buClrTx/>
              <a:buSzPct val="60000"/>
              <a:buFont typeface="Wingdings" panose="05000000000000000000" pitchFamily="2" charset="2"/>
              <a:buChar char="l"/>
              <a:defRPr/>
            </a:lvl3pPr>
            <a:lvl4pPr marL="1828800" indent="-457200">
              <a:buClrTx/>
              <a:buSzPct val="60000"/>
              <a:buFont typeface="Wingdings" panose="05000000000000000000" pitchFamily="2" charset="2"/>
              <a:buChar char="l"/>
              <a:defRPr/>
            </a:lvl4pPr>
            <a:lvl5pPr marL="2286000" indent="-457200">
              <a:buClrTx/>
              <a:buSzPct val="60000"/>
              <a:buFont typeface="Wingdings" panose="05000000000000000000" pitchFamily="2" charset="2"/>
              <a:buChar char="l"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26720" y="0"/>
            <a:ext cx="11338560" cy="1085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2640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C2DFBE24-ADDF-4500-8714-AD602638440A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47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027D1E9A-BFAD-4643-AE60-B796D188B9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426720" y="1085074"/>
            <a:ext cx="8100000" cy="0"/>
          </a:xfrm>
          <a:prstGeom prst="line">
            <a:avLst/>
          </a:prstGeom>
          <a:ln w="25400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6934" y="264507"/>
            <a:ext cx="2855756" cy="68954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2709000"/>
            <a:ext cx="12192000" cy="14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889000"/>
            <a:ext cx="10515600" cy="1217428"/>
          </a:xfrm>
        </p:spPr>
        <p:txBody>
          <a:bodyPr>
            <a:noAutofit/>
          </a:bodyPr>
          <a:lstStyle>
            <a:lvl1pPr algn="ctr"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277000"/>
            <a:ext cx="10515600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253330"/>
            <a:ext cx="10515600" cy="4839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640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C2DFBE24-ADDF-4500-8714-AD602638440A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47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027D1E9A-BFAD-4643-AE60-B796D188B9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l"/>
        <a:defRPr sz="2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24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8288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2860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277000"/>
            <a:ext cx="10515600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253330"/>
            <a:ext cx="10515600" cy="4839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640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C2DFBE24-ADDF-4500-8714-AD602638440A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47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027D1E9A-BFAD-4643-AE60-B796D188B9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l"/>
        <a:defRPr sz="2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24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8288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28600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6455" y="2234565"/>
            <a:ext cx="10511155" cy="225933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ym typeface="+mn-ea"/>
              </a:rPr>
              <a:t>大容量</a:t>
            </a:r>
            <a:r>
              <a:rPr lang="en-US" altLang="zh-CN" dirty="0">
                <a:sym typeface="+mn-ea"/>
              </a:rPr>
              <a:t>SSD</a:t>
            </a:r>
            <a:r>
              <a:rPr lang="zh-CN" altLang="en-US" dirty="0">
                <a:sym typeface="+mn-ea"/>
              </a:rPr>
              <a:t>数据管理算法设计与实现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AIMS-FTL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：一种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Bricolage Grotesque Extra Bold" pitchFamily="34" charset="-120"/>
                <a:sym typeface="+mn-ea"/>
              </a:rPr>
              <a:t>高性能</a:t>
            </a:r>
            <a:r>
              <a:rPr lang="en-US" altLang="zh-CN" sz="3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Bricolage Grotesque Extra Bold" pitchFamily="34" charset="-120"/>
                <a:sym typeface="+mn-ea"/>
              </a:rPr>
              <a:t>DFTL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Bricolage Grotesque Extra Bold" pitchFamily="34" charset="-120"/>
                <a:sym typeface="+mn-ea"/>
              </a:rPr>
              <a:t>架构设计</a:t>
            </a:r>
            <a:endParaRPr lang="en-US" altLang="zh-CN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95450" y="4611756"/>
            <a:ext cx="9144000" cy="224624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队名：</a:t>
            </a:r>
            <a:r>
              <a:rPr lang="en-US" altLang="zh-CN" sz="2400" dirty="0"/>
              <a:t>AIMS</a:t>
            </a:r>
            <a:r>
              <a:rPr lang="zh-CN" altLang="en-US" sz="2400" dirty="0"/>
              <a:t>小分队</a:t>
            </a:r>
            <a:endParaRPr lang="en-US" altLang="zh-CN" sz="2400" dirty="0"/>
          </a:p>
          <a:p>
            <a:r>
              <a:rPr lang="zh-CN" altLang="en-US" sz="2400" dirty="0"/>
              <a:t>汇报人：崔乘上</a:t>
            </a:r>
            <a:endParaRPr lang="en-US" altLang="zh-CN" sz="2400" dirty="0"/>
          </a:p>
          <a:p>
            <a:r>
              <a:rPr lang="zh-CN" altLang="en-US" sz="2400" dirty="0"/>
              <a:t>队员：张纳百川 黄可喻 崔乘上 徐裕钧</a:t>
            </a:r>
            <a:endParaRPr lang="en-US" altLang="zh-CN" sz="2400" dirty="0"/>
          </a:p>
          <a:p>
            <a:r>
              <a:rPr lang="zh-CN" altLang="en-US" sz="2400" dirty="0"/>
              <a:t>指导老师：童薇</a:t>
            </a:r>
            <a:endParaRPr lang="en-US" altLang="zh-CN" sz="2400" dirty="0"/>
          </a:p>
          <a:p>
            <a:r>
              <a:rPr lang="en-US" altLang="zh-CN" sz="2400" dirty="0"/>
              <a:t>2026</a:t>
            </a:r>
            <a:r>
              <a:rPr lang="zh-CN" altLang="en-US" sz="2400" dirty="0"/>
              <a:t>年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10</a:t>
            </a:r>
            <a:r>
              <a:rPr lang="zh-CN" altLang="en-US" sz="24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赛题背景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2" name="矩形: 圆角 1"/>
          <p:cNvSpPr/>
          <p:nvPr/>
        </p:nvSpPr>
        <p:spPr>
          <a:xfrm>
            <a:off x="2094230" y="5661025"/>
            <a:ext cx="8623300" cy="8909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如何在有限内存容量下，保证小粒度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FTL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的访问性能？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23520" y="3956050"/>
            <a:ext cx="7173595" cy="1807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40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SSD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容量扩张，但内存容量有限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大粒度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2400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与小粒度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FTL</a:t>
            </a:r>
            <a:r>
              <a:rPr lang="zh-CN" altLang="en-US" sz="2400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不适配，导致访问性能低下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zh-CN" altLang="en-US" sz="2400" b="1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95" y="1637665"/>
            <a:ext cx="4999355" cy="35820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" y="1139825"/>
            <a:ext cx="6341110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方案背景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11338560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映射粒度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块级映射写放大严重，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不适配小粒度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需求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混合级映射存在日志块的合并操作，性能抖动剧</a:t>
            </a:r>
          </a:p>
          <a:p>
            <a:pPr marL="0" lvl="0" indent="457200"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烈，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不适配高访问性能需求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buClrTx/>
              <a:buNone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可变长度映射元数据管理开销复杂，内存需求难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以估计，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不适配有限内存容量需求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lvl="0" indent="457200">
              <a:buClrTx/>
              <a:buNone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>
              <a:buClrTx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以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为典型代表的页级映射在内存容量、映射</a:t>
            </a:r>
          </a:p>
          <a:p>
            <a:pPr marL="0" lvl="0" indent="457200">
              <a:buClr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粒度、访问性能三者间达成较好平衡</a:t>
            </a:r>
          </a:p>
          <a:p>
            <a:pPr marL="0" lvl="0" indent="0">
              <a:buClrTx/>
              <a:buNone/>
            </a:pP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3077226"/>
              </p:ext>
            </p:extLst>
          </p:nvPr>
        </p:nvGraphicFramePr>
        <p:xfrm>
          <a:off x="6574790" y="1854200"/>
          <a:ext cx="5528945" cy="3857625"/>
        </p:xfrm>
        <a:graphic>
          <a:graphicData uri="http://schemas.openxmlformats.org/drawingml/2006/table">
            <a:tbl>
              <a:tblPr/>
              <a:tblGrid>
                <a:gridCol w="158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18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映射粒度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特点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代表性方案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页级映射 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逻辑页映射到物理页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kern="120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DFTL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块级映射 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逻辑块映射到物理块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NFTL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混合级映射 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页块级映射粒度混合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BAST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可变长度映射 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动态分配映射粒度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Variable FTL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方案背景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6736080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DFTL</a:t>
            </a:r>
          </a:p>
          <a:p>
            <a:pPr lvl="0">
              <a:buClrTx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核心思想</a:t>
            </a:r>
          </a:p>
          <a:p>
            <a:pPr lvl="1">
              <a:buClrTx/>
            </a:pPr>
            <a:r>
              <a:rPr lang="zh-CN" altLang="en-US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闪存存储全局映射表</a:t>
            </a:r>
          </a:p>
          <a:p>
            <a:pPr lvl="1">
              <a:buClrTx/>
            </a:pPr>
            <a:r>
              <a:rPr lang="en-US" altLang="zh-CN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</a:t>
            </a:r>
            <a:r>
              <a:rPr lang="zh-CN" altLang="en-US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使用缓存映射表（</a:t>
            </a:r>
            <a:r>
              <a:rPr lang="en-US" altLang="zh-CN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</a:t>
            </a:r>
            <a:r>
              <a:rPr lang="zh-CN" altLang="en-US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）存储</a:t>
            </a:r>
            <a:r>
              <a:rPr lang="zh-CN" altLang="en-US" sz="199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访问频率高</a:t>
            </a:r>
            <a:r>
              <a:rPr lang="zh-CN" altLang="en-US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</a:p>
          <a:p>
            <a:pPr marL="457200" lvl="1" indent="457200">
              <a:buClrTx/>
              <a:buNone/>
            </a:pPr>
            <a:r>
              <a:rPr lang="zh-CN" altLang="en-US" sz="1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</a:t>
            </a:r>
            <a:r>
              <a:rPr lang="zh-CN" altLang="en-US" sz="20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条目，</a:t>
            </a:r>
            <a:r>
              <a:rPr lang="en-US" altLang="zh-CN" sz="20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</a:t>
            </a:r>
            <a:r>
              <a:rPr lang="zh-CN" altLang="en-US" sz="20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未命中时通过全局翻译目录（</a:t>
            </a:r>
            <a:r>
              <a:rPr lang="en-US" altLang="zh-CN" sz="20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</a:t>
            </a:r>
            <a:r>
              <a:rPr lang="zh-CN" altLang="en-US" sz="20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）查找映射条目在全局映射表的位置</a:t>
            </a:r>
          </a:p>
          <a:p>
            <a:pPr lvl="0">
              <a:buClrTx/>
            </a:pP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存在的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瓶颈</a:t>
            </a:r>
          </a:p>
          <a:p>
            <a:pPr lvl="1">
              <a:buClrTx/>
            </a:pP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访问时延瓶颈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对数据局部性支持不足，面对大规模顺序读写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场景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性能不佳</a:t>
            </a:r>
          </a:p>
          <a:p>
            <a:pPr lvl="1"/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内存占用瓶颈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标准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需要存储完整的物理页号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延迟抖动与阻塞瓶颈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使用传统同步架构，高并发场景下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无法保障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Miss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时的阻塞会导致吞吐率剧烈波动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A9B148C4-A859-A240-6E71-67327B4BD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747318"/>
            <a:ext cx="4774597" cy="4295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整体架构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1" y="1253490"/>
            <a:ext cx="5935979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新型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AIMS-FTL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传统</a:t>
            </a:r>
            <a:r>
              <a:rPr lang="en-US" altLang="zh-CN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DFTL</a:t>
            </a: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设计：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缓存映射表（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CMT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传统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GTD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无调度策略，传统同步架构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19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ClrTx/>
              <a:buNone/>
            </a:pPr>
            <a:endParaRPr lang="en-US" altLang="zh-CN" sz="2325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AIMS-FTL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架构设计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映射页缓存（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位图压缩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队列和提交批处理</a:t>
            </a:r>
          </a:p>
          <a:p>
            <a:pPr marL="457200" lvl="1" indent="0">
              <a:buClrTx/>
              <a:buNone/>
            </a:pP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buClrTx/>
            </a:pPr>
            <a:endParaRPr lang="zh-CN" altLang="en-US" sz="126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8A7AEAAA-F29B-49AC-B0C1-5DDC7A2B633B}"/>
              </a:ext>
            </a:extLst>
          </p:cNvPr>
          <p:cNvSpPr/>
          <p:nvPr/>
        </p:nvSpPr>
        <p:spPr>
          <a:xfrm>
            <a:off x="2234662" y="3354590"/>
            <a:ext cx="1060315" cy="676072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81B45AF0-873B-CBDE-1243-C4247100B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183" y="1085074"/>
            <a:ext cx="58197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1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整体架构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1"/>
            <a:ext cx="6014838" cy="4865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新型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AIMS-FTL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面向大容量、低时延需求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大规模顺序读写请求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采用 </a:t>
            </a: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调度层 </a:t>
            </a:r>
            <a:r>
              <a:rPr lang="en-US" altLang="zh-CN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映射层 </a:t>
            </a: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设计：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调度层（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Layer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）：包含 提交队列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(Submission Queue, SQ)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和 提交批处理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映射层（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Translation Layer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）：以 全局映射目录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(GTD)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和 映射页缓存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(TPC)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为核心维护页级映射</a:t>
            </a:r>
          </a:p>
          <a:p>
            <a:pPr lvl="3">
              <a:buClrTx/>
            </a:pPr>
            <a:endParaRPr lang="zh-CN" altLang="en-US" sz="126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6F31B0AE-87D2-5F40-55D9-E91B985F0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183" y="1085074"/>
            <a:ext cx="58197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8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具体设计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5275580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映射页缓存（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架构存在访问局部性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(Locality)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的浪费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ClrTx/>
              <a:buNone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引入新设计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 </a:t>
            </a:r>
            <a:r>
              <a:rPr lang="en-US" altLang="zh-CN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(TPC)</a:t>
            </a:r>
            <a:endParaRPr lang="zh-CN" altLang="en-US" sz="233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中缓存映射页信息，其中包含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LBA-PPN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条目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时，可以通过一次磁盘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I/O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将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0-511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全部存入缓存；写回磁盘时也可以一次写回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个条目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很好地利用数据局部性</a:t>
            </a:r>
            <a:endParaRPr lang="en-US" altLang="zh-CN" sz="19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C9C38A91-28ED-4A0D-B6BF-46C37FD09D36}"/>
              </a:ext>
            </a:extLst>
          </p:cNvPr>
          <p:cNvSpPr/>
          <p:nvPr/>
        </p:nvSpPr>
        <p:spPr>
          <a:xfrm>
            <a:off x="291830" y="1702341"/>
            <a:ext cx="583660" cy="59338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: 空心 3">
            <a:extLst>
              <a:ext uri="{FF2B5EF4-FFF2-40B4-BE49-F238E27FC236}">
                <a16:creationId xmlns:a16="http://schemas.microsoft.com/office/drawing/2014/main" id="{3162D722-380A-440D-BF32-37F93508A3B1}"/>
              </a:ext>
            </a:extLst>
          </p:cNvPr>
          <p:cNvSpPr/>
          <p:nvPr/>
        </p:nvSpPr>
        <p:spPr>
          <a:xfrm>
            <a:off x="359925" y="2893177"/>
            <a:ext cx="505838" cy="505838"/>
          </a:xfrm>
          <a:prstGeom prst="donu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01B653-022C-11E8-7F24-6977D2817E48}"/>
              </a:ext>
            </a:extLst>
          </p:cNvPr>
          <p:cNvSpPr txBox="1"/>
          <p:nvPr/>
        </p:nvSpPr>
        <p:spPr>
          <a:xfrm>
            <a:off x="-3410656" y="4826675"/>
            <a:ext cx="3410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通过简单的</a:t>
            </a: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位运算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即可定位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LPA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MVPN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若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未命中，则通过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MVPN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索引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位图，以确认该映射页是否存在于闪存中。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表示存在，否则为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lvl="1"/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最后通过简单的计算得到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MVPN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MPPN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，定位闪存中的映射页并获取对应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PPN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FCEB3F-FA94-8307-4965-AAE9EEE52134}"/>
              </a:ext>
            </a:extLst>
          </p:cNvPr>
          <p:cNvSpPr/>
          <p:nvPr/>
        </p:nvSpPr>
        <p:spPr>
          <a:xfrm>
            <a:off x="1158409" y="5503135"/>
            <a:ext cx="4627878" cy="100793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顺序写性能提升 </a:t>
            </a:r>
            <a:r>
              <a:rPr lang="en-US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10x 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lang="en-US" altLang="zh-CN" sz="28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(14.6s vs 197.5s)</a:t>
            </a:r>
            <a:endParaRPr lang="zh-CN" altLang="en-US" sz="2800" b="1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形用户界面&#10;&#10;描述已自动生成">
            <a:extLst>
              <a:ext uri="{FF2B5EF4-FFF2-40B4-BE49-F238E27FC236}">
                <a16:creationId xmlns:a16="http://schemas.microsoft.com/office/drawing/2014/main" id="{212B62BE-C173-44ED-96C6-85E41C5A2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190" y="1253490"/>
            <a:ext cx="6011021" cy="4826459"/>
          </a:xfrm>
          <a:prstGeom prst="rect">
            <a:avLst/>
          </a:prstGeom>
        </p:spPr>
      </p:pic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E2EFB679-7DCF-5815-7A05-EAE81CE5BE02}"/>
              </a:ext>
            </a:extLst>
          </p:cNvPr>
          <p:cNvSpPr/>
          <p:nvPr/>
        </p:nvSpPr>
        <p:spPr>
          <a:xfrm>
            <a:off x="7028798" y="6248365"/>
            <a:ext cx="4004793" cy="506461"/>
          </a:xfrm>
          <a:prstGeom prst="wedgeRoundRectCallout">
            <a:avLst>
              <a:gd name="adj1" fmla="val -37347"/>
              <a:gd name="adj2" fmla="val -10420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后续顺序请求可直接访问内存，提升性能</a:t>
            </a:r>
            <a:endParaRPr lang="en-US" altLang="zh-CN" sz="16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11098DAA-5800-5607-8A1B-AE84A8866958}"/>
              </a:ext>
            </a:extLst>
          </p:cNvPr>
          <p:cNvSpPr/>
          <p:nvPr/>
        </p:nvSpPr>
        <p:spPr>
          <a:xfrm>
            <a:off x="8458999" y="3708342"/>
            <a:ext cx="2480348" cy="347720"/>
          </a:xfrm>
          <a:prstGeom prst="wedgeRoundRectCallout">
            <a:avLst>
              <a:gd name="adj1" fmla="val -436"/>
              <a:gd name="adj2" fmla="val -153215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4KB 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仅利用了其中的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8B</a:t>
            </a:r>
          </a:p>
        </p:txBody>
      </p:sp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93671F0D-C4BF-7555-1F2B-B5DF3B6B4CF7}"/>
              </a:ext>
            </a:extLst>
          </p:cNvPr>
          <p:cNvSpPr/>
          <p:nvPr/>
        </p:nvSpPr>
        <p:spPr>
          <a:xfrm>
            <a:off x="6159039" y="4056062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22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具体设计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5045612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位图压缩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引入新设计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en-US" altLang="zh-CN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压缩</a:t>
            </a:r>
            <a:endParaRPr lang="en-US" altLang="zh-CN" sz="233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将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压缩为位图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(Bitmap)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，每个比特位仅用于标记一个映射页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(MVPN)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是否已被分配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126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43FC28B-7C69-4947-BC25-ACC46B66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1" y="3407720"/>
            <a:ext cx="5669280" cy="2000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AB019C2-E703-49A7-BC06-A53814CF3BD7}"/>
              </a:ext>
            </a:extLst>
          </p:cNvPr>
          <p:cNvSpPr txBox="1"/>
          <p:nvPr/>
        </p:nvSpPr>
        <p:spPr>
          <a:xfrm>
            <a:off x="1226917" y="3235246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传统</a:t>
            </a:r>
            <a:r>
              <a:rPr lang="en-US" altLang="zh-CN" dirty="0"/>
              <a:t>GTD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198A5A-C9AD-2115-0A9D-86F385ED5BAC}"/>
              </a:ext>
            </a:extLst>
          </p:cNvPr>
          <p:cNvSpPr txBox="1"/>
          <p:nvPr/>
        </p:nvSpPr>
        <p:spPr>
          <a:xfrm>
            <a:off x="4302254" y="3235246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位图 </a:t>
            </a:r>
            <a:r>
              <a:rPr lang="en-US" altLang="zh-CN" dirty="0"/>
              <a:t>GTD</a:t>
            </a: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B4539FA6-A96E-F6E7-FAAA-EC92F1181B08}"/>
              </a:ext>
            </a:extLst>
          </p:cNvPr>
          <p:cNvSpPr/>
          <p:nvPr/>
        </p:nvSpPr>
        <p:spPr>
          <a:xfrm>
            <a:off x="3270837" y="4949463"/>
            <a:ext cx="3129963" cy="671195"/>
          </a:xfrm>
          <a:prstGeom prst="wedgeRoundRectCallout">
            <a:avLst>
              <a:gd name="adj1" fmla="val -44473"/>
              <a:gd name="adj2" fmla="val -89989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原理：利用大规模顺序写场景下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MVPN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MPPN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的线性关系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90C8AC-2B1A-008A-D6A7-2ABDD5F1C4F2}"/>
              </a:ext>
            </a:extLst>
          </p:cNvPr>
          <p:cNvSpPr/>
          <p:nvPr/>
        </p:nvSpPr>
        <p:spPr>
          <a:xfrm>
            <a:off x="1226917" y="5807844"/>
            <a:ext cx="4435582" cy="589846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元数据内存占用降低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倍</a:t>
            </a:r>
            <a:endParaRPr lang="zh-CN" alt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圆: 空心 7">
            <a:extLst>
              <a:ext uri="{FF2B5EF4-FFF2-40B4-BE49-F238E27FC236}">
                <a16:creationId xmlns:a16="http://schemas.microsoft.com/office/drawing/2014/main" id="{0F2C7367-4933-A93B-DC78-F4DF443F1E4E}"/>
              </a:ext>
            </a:extLst>
          </p:cNvPr>
          <p:cNvSpPr/>
          <p:nvPr/>
        </p:nvSpPr>
        <p:spPr>
          <a:xfrm>
            <a:off x="426720" y="1696461"/>
            <a:ext cx="505838" cy="505838"/>
          </a:xfrm>
          <a:prstGeom prst="donu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57F2A244-0977-9309-3AEF-76010EC51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650" y="1468457"/>
            <a:ext cx="6573250" cy="4690568"/>
          </a:xfrm>
          <a:prstGeom prst="rect">
            <a:avLst/>
          </a:prstGeom>
        </p:spPr>
      </p:pic>
      <p:sp>
        <p:nvSpPr>
          <p:cNvPr id="9" name="星形: 五角 8">
            <a:extLst>
              <a:ext uri="{FF2B5EF4-FFF2-40B4-BE49-F238E27FC236}">
                <a16:creationId xmlns:a16="http://schemas.microsoft.com/office/drawing/2014/main" id="{899D3501-A76D-CB04-A680-9FFCAF41C078}"/>
              </a:ext>
            </a:extLst>
          </p:cNvPr>
          <p:cNvSpPr/>
          <p:nvPr/>
        </p:nvSpPr>
        <p:spPr>
          <a:xfrm>
            <a:off x="9796134" y="250895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100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示&#10;&#10;描述已自动生成">
            <a:extLst>
              <a:ext uri="{FF2B5EF4-FFF2-40B4-BE49-F238E27FC236}">
                <a16:creationId xmlns:a16="http://schemas.microsoft.com/office/drawing/2014/main" id="{E8FF6934-96F3-EEFE-4C09-F69FEF454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53" y="613787"/>
            <a:ext cx="5138371" cy="450770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具体设计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5824833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请求调度策略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ClrTx/>
              <a:buNone/>
            </a:pP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引入新设计 </a:t>
            </a:r>
            <a:r>
              <a:rPr lang="en-US" altLang="zh-CN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en-US" altLang="zh-CN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队列和提交批处理</a:t>
            </a:r>
            <a:endParaRPr lang="en-US" altLang="zh-CN" sz="2325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 </a:t>
            </a:r>
            <a:r>
              <a:rPr lang="en-US" altLang="zh-CN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</a:t>
            </a: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为应对延迟抖动、减少阻塞，将最近请求以队列形式维护，将</a:t>
            </a:r>
            <a:r>
              <a:rPr lang="en-US" altLang="zh-CN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FTL</a:t>
            </a: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的控制面重构为异步模型，支持更复杂的请求调度策略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</a:t>
            </a:r>
            <a:r>
              <a:rPr lang="zh-CN" altLang="en-US" sz="232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提交批处理：</a:t>
            </a:r>
            <a:endParaRPr lang="en-US" altLang="zh-CN" sz="2325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为降低锁竞争和上下文切换开销、提升吞吐量，将单次请求的提交转化为批量提交</a:t>
            </a: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32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ClrTx/>
              <a:buNone/>
            </a:pPr>
            <a:endParaRPr lang="zh-CN" altLang="en-US" sz="126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圆: 空心 1">
            <a:extLst>
              <a:ext uri="{FF2B5EF4-FFF2-40B4-BE49-F238E27FC236}">
                <a16:creationId xmlns:a16="http://schemas.microsoft.com/office/drawing/2014/main" id="{70CEB2C4-AA14-768C-89CD-134ACEE2A9F8}"/>
              </a:ext>
            </a:extLst>
          </p:cNvPr>
          <p:cNvSpPr/>
          <p:nvPr/>
        </p:nvSpPr>
        <p:spPr>
          <a:xfrm>
            <a:off x="426720" y="1696461"/>
            <a:ext cx="505838" cy="505838"/>
          </a:xfrm>
          <a:prstGeom prst="donu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C52F2F-C89D-10F6-3522-38AC8C57244C}"/>
              </a:ext>
            </a:extLst>
          </p:cNvPr>
          <p:cNvSpPr/>
          <p:nvPr/>
        </p:nvSpPr>
        <p:spPr>
          <a:xfrm>
            <a:off x="2113808" y="5289908"/>
            <a:ext cx="4202474" cy="100793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延迟降低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7.1% 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lang="en-US" altLang="zh-CN" sz="28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(171.3s vs 184.4s)</a:t>
            </a:r>
            <a:endParaRPr lang="zh-CN" altLang="en-US" sz="2800" b="1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图形用户界面, 应用程序&#10;&#10;描述已自动生成">
            <a:extLst>
              <a:ext uri="{FF2B5EF4-FFF2-40B4-BE49-F238E27FC236}">
                <a16:creationId xmlns:a16="http://schemas.microsoft.com/office/drawing/2014/main" id="{D4C62AC6-2D14-9D10-7DD9-12DE463B3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21"/>
          <a:stretch/>
        </p:blipFill>
        <p:spPr>
          <a:xfrm>
            <a:off x="6897190" y="5231398"/>
            <a:ext cx="3884401" cy="14900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660DA44-9E36-259E-B40C-FDE19EB22358}"/>
              </a:ext>
            </a:extLst>
          </p:cNvPr>
          <p:cNvSpPr/>
          <p:nvPr/>
        </p:nvSpPr>
        <p:spPr>
          <a:xfrm>
            <a:off x="8389735" y="5165823"/>
            <a:ext cx="2852423" cy="636531"/>
          </a:xfrm>
          <a:prstGeom prst="wedgeRoundRectCallout">
            <a:avLst>
              <a:gd name="adj1" fmla="val -41382"/>
              <a:gd name="adj2" fmla="val 8877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Perfetto trace </a:t>
            </a:r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分析：</a:t>
            </a:r>
            <a:endParaRPr lang="en-US" altLang="zh-CN" sz="16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请求调度策略显著减少阻塞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74AC5D16-9C6B-3E14-CD46-9257F11184DD}"/>
              </a:ext>
            </a:extLst>
          </p:cNvPr>
          <p:cNvSpPr/>
          <p:nvPr/>
        </p:nvSpPr>
        <p:spPr>
          <a:xfrm>
            <a:off x="8908907" y="2202299"/>
            <a:ext cx="1648258" cy="624028"/>
          </a:xfrm>
          <a:prstGeom prst="wedgeRoundRectCallout">
            <a:avLst>
              <a:gd name="adj1" fmla="val -7985"/>
              <a:gd name="adj2" fmla="val 29391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可支持复杂</a:t>
            </a:r>
            <a:endParaRPr lang="en-US" altLang="zh-CN" sz="16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请求调度策略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B43C73A0-F934-64F5-4F81-0577F3D13B7C}"/>
              </a:ext>
            </a:extLst>
          </p:cNvPr>
          <p:cNvSpPr/>
          <p:nvPr/>
        </p:nvSpPr>
        <p:spPr>
          <a:xfrm>
            <a:off x="10556801" y="1662996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5492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11F3301D-C124-280F-B45A-64F4FA0D9B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592385"/>
              </p:ext>
            </p:extLst>
          </p:nvPr>
        </p:nvGraphicFramePr>
        <p:xfrm>
          <a:off x="463550" y="2731353"/>
          <a:ext cx="4825254" cy="3758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F3DF9A2D-B997-59AB-A4A0-DB5D042243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317890"/>
              </p:ext>
            </p:extLst>
          </p:nvPr>
        </p:nvGraphicFramePr>
        <p:xfrm>
          <a:off x="6351826" y="2040534"/>
          <a:ext cx="3916237" cy="3980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消融实验和敏感性分析</a:t>
            </a: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通过实验分析确定最终的提交方案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性能分析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内容占位符 1"/>
          <p:cNvSpPr txBox="1"/>
          <p:nvPr/>
        </p:nvSpPr>
        <p:spPr>
          <a:xfrm>
            <a:off x="5282454" y="1611470"/>
            <a:ext cx="5950548" cy="4839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ct val="60000"/>
              <a:buFont typeface="Wingdings" panose="05000000000000000000" pitchFamily="2" charset="2"/>
              <a:buChar char="l"/>
              <a:defRPr sz="2800" b="0" kern="1200" baseline="0">
                <a:solidFill>
                  <a:srgbClr val="1F4E79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l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对话气泡: 圆角矩形 10"/>
          <p:cNvSpPr/>
          <p:nvPr/>
        </p:nvSpPr>
        <p:spPr>
          <a:xfrm>
            <a:off x="8443803" y="3197691"/>
            <a:ext cx="2513330" cy="671195"/>
          </a:xfrm>
          <a:prstGeom prst="wedgeRoundRectCallout">
            <a:avLst>
              <a:gd name="adj1" fmla="val -49671"/>
              <a:gd name="adj2" fmla="val 11701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不使用位图优化：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内存开销明显增加 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(64x)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对话气泡: 圆角矩形 11"/>
          <p:cNvSpPr/>
          <p:nvPr/>
        </p:nvSpPr>
        <p:spPr>
          <a:xfrm>
            <a:off x="7241907" y="2450623"/>
            <a:ext cx="2052955" cy="662940"/>
          </a:xfrm>
          <a:prstGeom prst="wedgeRoundRectCallout">
            <a:avLst>
              <a:gd name="adj1" fmla="val -41382"/>
              <a:gd name="adj2" fmla="val 8877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调节 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TPC 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大小：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2MB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3%+ Speed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对话气泡: 圆角矩形 14"/>
          <p:cNvSpPr/>
          <p:nvPr/>
        </p:nvSpPr>
        <p:spPr>
          <a:xfrm>
            <a:off x="10046245" y="3956162"/>
            <a:ext cx="1587500" cy="657860"/>
          </a:xfrm>
          <a:prstGeom prst="wedgeRoundRectCallout">
            <a:avLst>
              <a:gd name="adj1" fmla="val -43963"/>
              <a:gd name="adj2" fmla="val 8999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增大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CMT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边际收益递减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40401" y="223816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(s)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" name="箭头: 右 26"/>
          <p:cNvSpPr/>
          <p:nvPr/>
        </p:nvSpPr>
        <p:spPr>
          <a:xfrm rot="16200000">
            <a:off x="1687350" y="3226611"/>
            <a:ext cx="403803" cy="394409"/>
          </a:xfrm>
          <a:prstGeom prst="rightArrow">
            <a:avLst/>
          </a:prstGeom>
          <a:solidFill>
            <a:srgbClr val="5B80C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对话气泡: 圆角矩形 22"/>
          <p:cNvSpPr/>
          <p:nvPr/>
        </p:nvSpPr>
        <p:spPr>
          <a:xfrm>
            <a:off x="2482386" y="3259561"/>
            <a:ext cx="1304926" cy="458309"/>
          </a:xfrm>
          <a:prstGeom prst="wedgeRoundRectCallout">
            <a:avLst>
              <a:gd name="adj1" fmla="val -81968"/>
              <a:gd name="adj2" fmla="val -36179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不使用</a:t>
            </a:r>
            <a:r>
              <a: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TPC :</a:t>
            </a:r>
          </a:p>
          <a:p>
            <a:pPr algn="ctr"/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延迟增加 </a:t>
            </a:r>
            <a:r>
              <a: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20x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6360" y="290705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(s)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1693" y="2907334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(MB)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884387" y="3551031"/>
            <a:ext cx="1304926" cy="760121"/>
          </a:xfrm>
          <a:prstGeom prst="wedgeRoundRectCallout">
            <a:avLst>
              <a:gd name="adj1" fmla="val -28440"/>
              <a:gd name="adj2" fmla="val 9061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综合效能最佳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DCE10E5D-52C4-E7D9-9FB8-7CB421F500F8}"/>
              </a:ext>
            </a:extLst>
          </p:cNvPr>
          <p:cNvSpPr/>
          <p:nvPr/>
        </p:nvSpPr>
        <p:spPr>
          <a:xfrm>
            <a:off x="1008973" y="4728043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DD5F3B02-F7A9-4F12-7366-041FA70F3919}"/>
              </a:ext>
            </a:extLst>
          </p:cNvPr>
          <p:cNvSpPr/>
          <p:nvPr/>
        </p:nvSpPr>
        <p:spPr>
          <a:xfrm>
            <a:off x="7501806" y="3829444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图表 21">
            <a:extLst>
              <a:ext uri="{FF2B5EF4-FFF2-40B4-BE49-F238E27FC236}">
                <a16:creationId xmlns:a16="http://schemas.microsoft.com/office/drawing/2014/main" id="{3E852E09-5637-8209-E1BA-6803D68EAB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356405"/>
              </p:ext>
            </p:extLst>
          </p:nvPr>
        </p:nvGraphicFramePr>
        <p:xfrm>
          <a:off x="4947944" y="2188662"/>
          <a:ext cx="6076226" cy="450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8C9E9823-66CE-494F-B620-EE1A6AA9F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870675"/>
              </p:ext>
            </p:extLst>
          </p:nvPr>
        </p:nvGraphicFramePr>
        <p:xfrm>
          <a:off x="813383" y="3429000"/>
          <a:ext cx="3459385" cy="3275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整体效果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29" name="内容占位符 5"/>
          <p:cNvSpPr>
            <a:spLocks noGrp="1"/>
          </p:cNvSpPr>
          <p:nvPr>
            <p:ph idx="1"/>
          </p:nvPr>
        </p:nvSpPr>
        <p:spPr>
          <a:xfrm>
            <a:off x="436245" y="1253330"/>
            <a:ext cx="11338560" cy="4839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评测结果分析</a:t>
            </a:r>
            <a:endParaRPr lang="en-US" altLang="zh-CN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前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Rank10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测试结果（按数据集特征分类）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延时：</a:t>
            </a:r>
            <a:r>
              <a:rPr lang="zh-CN" altLang="en-US" sz="23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</a:t>
            </a:r>
            <a:r>
              <a:rPr lang="en-US" altLang="zh-CN" sz="23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Rank3</a:t>
            </a: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平均内存开销：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4KB</a:t>
            </a:r>
          </a:p>
          <a:p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星形: 五角 14"/>
          <p:cNvSpPr/>
          <p:nvPr/>
        </p:nvSpPr>
        <p:spPr>
          <a:xfrm>
            <a:off x="9048942" y="3470731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星形: 五角 16"/>
          <p:cNvSpPr/>
          <p:nvPr/>
        </p:nvSpPr>
        <p:spPr>
          <a:xfrm>
            <a:off x="6272423" y="4940826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对话气泡: 圆角矩形 46"/>
          <p:cNvSpPr/>
          <p:nvPr/>
        </p:nvSpPr>
        <p:spPr>
          <a:xfrm>
            <a:off x="7986057" y="2732090"/>
            <a:ext cx="1393839" cy="532875"/>
          </a:xfrm>
          <a:prstGeom prst="wedgeRoundRectCallout">
            <a:avLst>
              <a:gd name="adj1" fmla="val 42489"/>
              <a:gd name="adj2" fmla="val 84635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小于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193s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对话气泡: 圆角矩形 4"/>
          <p:cNvSpPr/>
          <p:nvPr/>
        </p:nvSpPr>
        <p:spPr>
          <a:xfrm>
            <a:off x="9688192" y="2125758"/>
            <a:ext cx="1531325" cy="682966"/>
          </a:xfrm>
          <a:prstGeom prst="wedgeRoundRectCallout">
            <a:avLst>
              <a:gd name="adj1" fmla="val -48324"/>
              <a:gd name="adj2" fmla="val 109739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8.5%+ 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性能提升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6196184" y="3827334"/>
            <a:ext cx="1531325" cy="682966"/>
          </a:xfrm>
          <a:prstGeom prst="wedgeRoundRectCallout">
            <a:avLst>
              <a:gd name="adj1" fmla="val -11625"/>
              <a:gd name="adj2" fmla="val 10834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6.3%+ 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性能提升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3123750" y="3161380"/>
            <a:ext cx="1774308" cy="774171"/>
          </a:xfrm>
          <a:prstGeom prst="wedgeRoundRectCallout">
            <a:avLst>
              <a:gd name="adj1" fmla="val -62320"/>
              <a:gd name="adj2" fmla="val 95252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12.2%+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的性能提升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星形: 五角 10"/>
          <p:cNvSpPr/>
          <p:nvPr/>
        </p:nvSpPr>
        <p:spPr>
          <a:xfrm>
            <a:off x="2020891" y="451030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98064F1-D69A-A24B-4EEC-49239C09D13E}"/>
              </a:ext>
            </a:extLst>
          </p:cNvPr>
          <p:cNvSpPr/>
          <p:nvPr/>
        </p:nvSpPr>
        <p:spPr>
          <a:xfrm>
            <a:off x="6604071" y="1275544"/>
            <a:ext cx="2444871" cy="8909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综合排名：</a:t>
            </a:r>
            <a:r>
              <a:rPr lang="en-US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92000" y="2709000"/>
            <a:ext cx="10515600" cy="1493874"/>
          </a:xfrm>
        </p:spPr>
        <p:txBody>
          <a:bodyPr/>
          <a:lstStyle/>
          <a:p>
            <a:r>
              <a:rPr lang="zh-CN" altLang="en-US" dirty="0"/>
              <a:t>恳请各位老师批评指正！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具体设计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6720" y="1253490"/>
            <a:ext cx="5275580" cy="560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映射页缓存（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CMT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架构存在访问局部性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(Locality)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的浪费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ClrTx/>
              <a:buNone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引入新设计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映射页缓存 </a:t>
            </a:r>
            <a:r>
              <a:rPr lang="en-US" altLang="zh-CN" sz="233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(TPC)</a:t>
            </a:r>
            <a:endParaRPr lang="zh-CN" altLang="en-US" sz="233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中缓存映射页信息，其中包含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LBA-PPN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条目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时，可以通过一次磁盘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I/O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将 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LBA 0-511 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全部存入缓存；写回磁盘时也可以一次写回</a:t>
            </a:r>
            <a:r>
              <a:rPr lang="en-US" altLang="zh-CN" sz="1930" dirty="0"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个条目</a:t>
            </a:r>
            <a:endParaRPr lang="en-US" altLang="zh-CN" sz="19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930" dirty="0">
                <a:latin typeface="Arial" panose="020B0604020202020204" pitchFamily="34" charset="0"/>
                <a:cs typeface="Arial" panose="020B0604020202020204" pitchFamily="34" charset="0"/>
              </a:rPr>
              <a:t>很好地利用数据局部性</a:t>
            </a:r>
            <a:endParaRPr lang="en-US" altLang="zh-CN" sz="19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C9C38A91-28ED-4A0D-B6BF-46C37FD09D36}"/>
              </a:ext>
            </a:extLst>
          </p:cNvPr>
          <p:cNvSpPr/>
          <p:nvPr/>
        </p:nvSpPr>
        <p:spPr>
          <a:xfrm>
            <a:off x="291830" y="1702341"/>
            <a:ext cx="583660" cy="59338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: 空心 3">
            <a:extLst>
              <a:ext uri="{FF2B5EF4-FFF2-40B4-BE49-F238E27FC236}">
                <a16:creationId xmlns:a16="http://schemas.microsoft.com/office/drawing/2014/main" id="{3162D722-380A-440D-BF32-37F93508A3B1}"/>
              </a:ext>
            </a:extLst>
          </p:cNvPr>
          <p:cNvSpPr/>
          <p:nvPr/>
        </p:nvSpPr>
        <p:spPr>
          <a:xfrm>
            <a:off x="359925" y="2893177"/>
            <a:ext cx="505838" cy="505838"/>
          </a:xfrm>
          <a:prstGeom prst="donu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01B653-022C-11E8-7F24-6977D2817E48}"/>
              </a:ext>
            </a:extLst>
          </p:cNvPr>
          <p:cNvSpPr txBox="1"/>
          <p:nvPr/>
        </p:nvSpPr>
        <p:spPr>
          <a:xfrm>
            <a:off x="-3410656" y="4826675"/>
            <a:ext cx="3410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通过简单的</a:t>
            </a: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位运算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即可定位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LPA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MVPN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若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TPC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未命中，则通过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MVPN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索引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 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位图，以确认该映射页是否存在于闪存中。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表示存在，否则为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lvl="1"/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最后通过简单的计算得到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MVPN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MPPN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，定位闪存中的映射页并获取对应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PPN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FCEB3F-FA94-8307-4965-AAE9EEE52134}"/>
              </a:ext>
            </a:extLst>
          </p:cNvPr>
          <p:cNvSpPr/>
          <p:nvPr/>
        </p:nvSpPr>
        <p:spPr>
          <a:xfrm>
            <a:off x="1158409" y="5503135"/>
            <a:ext cx="4627878" cy="100793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顺序写性能提升 </a:t>
            </a:r>
            <a:r>
              <a:rPr lang="en-US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10x 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lang="en-US" altLang="zh-CN" sz="28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(14.6s vs 197.5s)</a:t>
            </a:r>
            <a:endParaRPr lang="zh-CN" altLang="en-US" sz="2800" b="1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6A94F237-F9F8-FDA7-FD6B-640163B5E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650" y="1468457"/>
            <a:ext cx="6573250" cy="46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16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整体效果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29" name="内容占位符 5"/>
          <p:cNvSpPr>
            <a:spLocks noGrp="1"/>
          </p:cNvSpPr>
          <p:nvPr>
            <p:ph idx="1"/>
          </p:nvPr>
        </p:nvSpPr>
        <p:spPr>
          <a:xfrm>
            <a:off x="436245" y="1253330"/>
            <a:ext cx="11338560" cy="4839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评测结果分析</a:t>
            </a:r>
            <a:endParaRPr lang="en-US" altLang="zh-CN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2016760"/>
            <a:ext cx="8510905" cy="745490"/>
          </a:xfrm>
          <a:prstGeom prst="rect">
            <a:avLst/>
          </a:prstGeom>
        </p:spPr>
      </p:pic>
      <p:graphicFrame>
        <p:nvGraphicFramePr>
          <p:cNvPr id="5" name="图表 4"/>
          <p:cNvGraphicFramePr/>
          <p:nvPr/>
        </p:nvGraphicFramePr>
        <p:xfrm>
          <a:off x="1143635" y="2792095"/>
          <a:ext cx="9135745" cy="2816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星形: 五角 5"/>
          <p:cNvSpPr/>
          <p:nvPr/>
        </p:nvSpPr>
        <p:spPr>
          <a:xfrm>
            <a:off x="2614930" y="364490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星形: 五角 6"/>
          <p:cNvSpPr/>
          <p:nvPr/>
        </p:nvSpPr>
        <p:spPr>
          <a:xfrm>
            <a:off x="4124960" y="3650615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星形: 五角 7"/>
          <p:cNvSpPr/>
          <p:nvPr/>
        </p:nvSpPr>
        <p:spPr>
          <a:xfrm>
            <a:off x="5374640" y="3650615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星形: 五角 8"/>
          <p:cNvSpPr/>
          <p:nvPr/>
        </p:nvSpPr>
        <p:spPr>
          <a:xfrm>
            <a:off x="6889750" y="366014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星形: 五角 24"/>
          <p:cNvSpPr/>
          <p:nvPr/>
        </p:nvSpPr>
        <p:spPr>
          <a:xfrm>
            <a:off x="8134985" y="365760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星形: 五角 25"/>
          <p:cNvSpPr/>
          <p:nvPr/>
        </p:nvSpPr>
        <p:spPr>
          <a:xfrm>
            <a:off x="9652000" y="3660140"/>
            <a:ext cx="449580" cy="464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zh-CN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1858010" y="3352800"/>
            <a:ext cx="8527415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1858010" y="2830830"/>
            <a:ext cx="8261350" cy="20955"/>
          </a:xfrm>
          <a:prstGeom prst="line">
            <a:avLst/>
          </a:prstGeom>
          <a:ln w="1905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369060" y="1965325"/>
            <a:ext cx="495300" cy="764540"/>
            <a:chOff x="6718300" y="1708150"/>
            <a:chExt cx="495586" cy="764232"/>
          </a:xfrm>
        </p:grpSpPr>
        <p:sp>
          <p:nvSpPr>
            <p:cNvPr id="32" name="文本框 31"/>
            <p:cNvSpPr txBox="1"/>
            <p:nvPr/>
          </p:nvSpPr>
          <p:spPr>
            <a:xfrm>
              <a:off x="6724650" y="2241550"/>
              <a:ext cx="4892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10000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718300" y="2063750"/>
              <a:ext cx="4892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15000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718300" y="1885950"/>
              <a:ext cx="4892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20000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718300" y="1708150"/>
              <a:ext cx="4892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25000</a:t>
              </a:r>
              <a:endPara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267960" y="1518285"/>
            <a:ext cx="1441450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各难度内存开销</a:t>
            </a:r>
          </a:p>
        </p:txBody>
      </p:sp>
      <p:sp>
        <p:nvSpPr>
          <p:cNvPr id="38" name="对话气泡: 圆角矩形 37"/>
          <p:cNvSpPr/>
          <p:nvPr/>
        </p:nvSpPr>
        <p:spPr>
          <a:xfrm>
            <a:off x="6492240" y="1799590"/>
            <a:ext cx="1750695" cy="532765"/>
          </a:xfrm>
          <a:prstGeom prst="wedgeRoundRectCallout">
            <a:avLst>
              <a:gd name="adj1" fmla="val 57669"/>
              <a:gd name="adj2" fmla="val 21847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小于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4110KB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3452495" y="5661660"/>
            <a:ext cx="5287010" cy="8909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总分：</a:t>
            </a:r>
            <a:r>
              <a:rPr lang="en-US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81.63      </a:t>
            </a:r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综合排名：</a:t>
            </a:r>
            <a:r>
              <a:rPr lang="en-US" altLang="zh-CN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补充说明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7D1E9A-BFAD-4643-AE60-B796D188B981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29" name="内容占位符 5"/>
          <p:cNvSpPr>
            <a:spLocks noGrp="1"/>
          </p:cNvSpPr>
          <p:nvPr>
            <p:ph idx="1"/>
          </p:nvPr>
        </p:nvSpPr>
        <p:spPr>
          <a:xfrm>
            <a:off x="436245" y="1253330"/>
            <a:ext cx="11338560" cy="4839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Setvbuf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缓冲区优化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背景：赛题输入文件巨大，且使用</a:t>
            </a:r>
            <a:r>
              <a:rPr lang="en-US" altLang="zh-CN" sz="233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fgets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sz="233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sscanf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进行顺序读取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en-US" altLang="zh-CN" sz="233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glibc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默认缓冲区大小是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4KB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或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8KB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33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setvbuf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函数允许程序控制 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 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的缓冲和缓冲区大小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开启</a:t>
            </a:r>
            <a:r>
              <a:rPr lang="en-US" altLang="zh-CN" sz="233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setvbuf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，设置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缓冲区大小为</a:t>
            </a:r>
            <a:r>
              <a:rPr lang="en-US" altLang="zh-CN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1MB</a:t>
            </a:r>
            <a:r>
              <a:rPr lang="zh-CN" altLang="en-US" sz="23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，则：</a:t>
            </a:r>
            <a:endParaRPr lang="en-US" altLang="zh-CN" sz="23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A4E2458-0B3A-A827-68D0-9FE4DC76F638}"/>
              </a:ext>
            </a:extLst>
          </p:cNvPr>
          <p:cNvSpPr/>
          <p:nvPr/>
        </p:nvSpPr>
        <p:spPr>
          <a:xfrm>
            <a:off x="3105536" y="2863376"/>
            <a:ext cx="5999977" cy="8909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5.5GB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1439355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次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系统调用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E4AA820-30C5-29C4-7CD4-C5958066FDBF}"/>
              </a:ext>
            </a:extLst>
          </p:cNvPr>
          <p:cNvSpPr/>
          <p:nvPr/>
        </p:nvSpPr>
        <p:spPr>
          <a:xfrm>
            <a:off x="3105536" y="5201550"/>
            <a:ext cx="5999977" cy="89090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1439355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5603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次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系统调用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性能优化：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2~3%</a:t>
            </a:r>
          </a:p>
        </p:txBody>
      </p:sp>
    </p:spTree>
    <p:extLst>
      <p:ext uri="{BB962C8B-B14F-4D97-AF65-F5344CB8AC3E}">
        <p14:creationId xmlns:p14="http://schemas.microsoft.com/office/powerpoint/2010/main" val="38424110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5*303"/>
  <p:tag name="TABLE_ENDDRAG_RECT" val="514*154*435*30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2321</Words>
  <Application>Microsoft Office PowerPoint</Application>
  <PresentationFormat>宽屏</PresentationFormat>
  <Paragraphs>263</Paragraphs>
  <Slides>15</Slides>
  <Notes>14</Notes>
  <HiddenSlides>3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Calibri</vt:lpstr>
      <vt:lpstr>等线</vt:lpstr>
      <vt:lpstr>Microsoft YaHei UI</vt:lpstr>
      <vt:lpstr>Times New Roman</vt:lpstr>
      <vt:lpstr>Wingdings</vt:lpstr>
      <vt:lpstr>微软雅黑</vt:lpstr>
      <vt:lpstr>Office 主题​​</vt:lpstr>
      <vt:lpstr>1_Office 主题​​</vt:lpstr>
      <vt:lpstr>大容量SSD数据管理算法设计与实现AIMS-FTL ：一种高性能DFTL架构设计</vt:lpstr>
      <vt:lpstr>赛题背景</vt:lpstr>
      <vt:lpstr>方案背景</vt:lpstr>
      <vt:lpstr>方案背景</vt:lpstr>
      <vt:lpstr>整体架构</vt:lpstr>
      <vt:lpstr>整体架构</vt:lpstr>
      <vt:lpstr>具体设计</vt:lpstr>
      <vt:lpstr>具体设计</vt:lpstr>
      <vt:lpstr>具体设计</vt:lpstr>
      <vt:lpstr>性能分析</vt:lpstr>
      <vt:lpstr>整体效果</vt:lpstr>
      <vt:lpstr>恳请各位老师批评指正！</vt:lpstr>
      <vt:lpstr>具体设计</vt:lpstr>
      <vt:lpstr>整体效果</vt:lpstr>
      <vt:lpstr>补充说明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</dc:creator>
  <cp:lastModifiedBy>Nabaichuan Zhang</cp:lastModifiedBy>
  <cp:revision>597</cp:revision>
  <dcterms:created xsi:type="dcterms:W3CDTF">2022-04-11T01:49:00Z</dcterms:created>
  <dcterms:modified xsi:type="dcterms:W3CDTF">2026-01-10T03:13:19Z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1E4D8BE43A11402D8C4D812833014E2C_13</vt:lpwstr>
  </property>
</Properties>
</file>